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0"/>
  </p:notesMasterIdLst>
  <p:sldIdLst>
    <p:sldId id="256" r:id="rId2"/>
    <p:sldId id="258" r:id="rId3"/>
    <p:sldId id="259" r:id="rId4"/>
    <p:sldId id="261" r:id="rId5"/>
    <p:sldId id="310" r:id="rId6"/>
    <p:sldId id="307" r:id="rId7"/>
    <p:sldId id="323" r:id="rId8"/>
    <p:sldId id="328" r:id="rId9"/>
    <p:sldId id="311" r:id="rId10"/>
    <p:sldId id="315" r:id="rId11"/>
    <p:sldId id="325" r:id="rId12"/>
    <p:sldId id="327" r:id="rId13"/>
    <p:sldId id="331" r:id="rId14"/>
    <p:sldId id="332" r:id="rId15"/>
    <p:sldId id="314" r:id="rId16"/>
    <p:sldId id="317" r:id="rId17"/>
    <p:sldId id="338" r:id="rId18"/>
    <p:sldId id="330" r:id="rId19"/>
    <p:sldId id="333" r:id="rId20"/>
    <p:sldId id="337" r:id="rId21"/>
    <p:sldId id="334" r:id="rId22"/>
    <p:sldId id="336" r:id="rId23"/>
    <p:sldId id="335" r:id="rId24"/>
    <p:sldId id="339" r:id="rId25"/>
    <p:sldId id="308" r:id="rId26"/>
    <p:sldId id="318" r:id="rId27"/>
    <p:sldId id="309" r:id="rId28"/>
    <p:sldId id="285" r:id="rId2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Sora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91E17-25CF-4A3A-BE75-1BE100FAD264}" v="2848" dt="2025-08-20T04:08:09.972"/>
    <p1510:client id="{44DFE487-7D46-6243-A853-1F6ECABBED2D}" v="1609" dt="2025-08-20T05:38:49.496"/>
    <p1510:client id="{4FECC02C-D99F-EF96-000B-4CAE692DC9FA}" v="425" dt="2025-08-19T13:55:32.518"/>
    <p1510:client id="{595D9D9D-26A4-A0FD-2361-94062479D02C}" v="763" dt="2025-08-20T03:28:58.110"/>
    <p1510:client id="{68506BB6-1F13-89F2-96E5-CCCA34112C2C}" v="953" dt="2025-08-19T16:48:53.221"/>
    <p1510:client id="{7E51E0AC-E55B-C9E8-7C91-BFE31B68DD5D}" v="252" dt="2025-08-20T04:10:04.382"/>
    <p1510:client id="{C9CEE56A-2431-9CC5-1C71-FBE555F62274}" v="322" dt="2025-08-19T16:32:08.179"/>
  </p1510:revLst>
</p1510:revInfo>
</file>

<file path=ppt/tableStyles.xml><?xml version="1.0" encoding="utf-8"?>
<a:tblStyleLst xmlns:a="http://schemas.openxmlformats.org/drawingml/2006/main" def="{2841CA40-79BC-47F5-B059-F3D9DC75E41C}">
  <a:tblStyle styleId="{2841CA40-79BC-47F5-B059-F3D9DC75E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8"/>
    <p:restoredTop sz="94701"/>
  </p:normalViewPr>
  <p:slideViewPr>
    <p:cSldViewPr snapToGrid="0">
      <p:cViewPr varScale="1">
        <p:scale>
          <a:sx n="150" d="100"/>
          <a:sy n="150" d="100"/>
        </p:scale>
        <p:origin x="168" y="1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C2821CE7-3518-4959-D1DF-3635DC5A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E98C39E7-2A40-882D-59D4-9F810B108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A4DB61BE-342B-1226-EB3A-04E7530F7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596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B7AE-B3C7-27C6-66F9-7C10FEBF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EDBDE-DBC8-7A6A-622E-34B412206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8DA73-DEF1-D8C4-1A53-559B30660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service.py</a:t>
            </a:r>
          </a:p>
          <a:p>
            <a:pPr marL="171450" indent="-171450"/>
            <a:r>
              <a:rPr lang="en-US" b="1"/>
              <a:t>Main script where data preprocessing logic lives.</a:t>
            </a:r>
            <a:endParaRPr lang="en-US"/>
          </a:p>
          <a:p>
            <a:pPr marL="171450" indent="-171450"/>
            <a:r>
              <a:rPr lang="en-US"/>
              <a:t>Handles steps like:</a:t>
            </a:r>
          </a:p>
          <a:p>
            <a:pPr marL="1085850" lvl="1" indent="-171450"/>
            <a:r>
              <a:rPr lang="en-US"/>
              <a:t>Dropping nulls/duplicates</a:t>
            </a:r>
          </a:p>
          <a:p>
            <a:pPr marL="1085850" lvl="1" indent="-171450"/>
            <a:r>
              <a:rPr lang="en-US"/>
              <a:t>Encoding categorical variables</a:t>
            </a:r>
          </a:p>
          <a:p>
            <a:pPr marL="1085850" lvl="1" indent="-171450"/>
            <a:r>
              <a:rPr lang="en-US"/>
              <a:t>Standardizing numerical values</a:t>
            </a:r>
          </a:p>
          <a:p>
            <a:pPr marL="1085850" lvl="1" indent="-171450"/>
            <a:r>
              <a:rPr lang="en-US"/>
              <a:t>Saving cleaned data to CSV</a:t>
            </a:r>
          </a:p>
          <a:p>
            <a:pPr marL="171450" indent="-171450"/>
            <a:r>
              <a:rPr lang="en-US" b="1"/>
              <a:t>Exposes API endpoints (/preprocess, /healthz)</a:t>
            </a:r>
            <a:r>
              <a:rPr lang="en-US"/>
              <a:t> so this can run as a </a:t>
            </a:r>
            <a:r>
              <a:rPr lang="en-US" b="1"/>
              <a:t>microservice</a:t>
            </a:r>
            <a:r>
              <a:rPr lang="en-US"/>
              <a:t>, not just a script.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/>
              <a:t>Dockerfile</a:t>
            </a:r>
          </a:p>
          <a:p>
            <a:pPr marL="171450" indent="-171450"/>
            <a:r>
              <a:rPr lang="en-US" b="1"/>
              <a:t>Wraps the code in a container</a:t>
            </a:r>
            <a:r>
              <a:rPr lang="en-US"/>
              <a:t>, so it runs the same across any machine or cloud service.</a:t>
            </a:r>
          </a:p>
          <a:p>
            <a:pPr marL="171450" indent="-171450"/>
            <a:r>
              <a:rPr lang="en-US"/>
              <a:t>Good for </a:t>
            </a:r>
            <a:r>
              <a:rPr lang="en-US" b="1"/>
              <a:t>deployment</a:t>
            </a:r>
            <a:r>
              <a:rPr lang="en-US"/>
              <a:t> and </a:t>
            </a:r>
            <a:r>
              <a:rPr lang="en-US" b="1"/>
              <a:t>CI/CD pipelines</a:t>
            </a:r>
            <a:r>
              <a:rPr lang="en-US"/>
              <a:t>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/>
              <a:t>requirements.txt</a:t>
            </a:r>
          </a:p>
          <a:p>
            <a:pPr marL="171450" indent="-171450"/>
            <a:r>
              <a:rPr lang="en-US"/>
              <a:t>Ensures </a:t>
            </a:r>
            <a:r>
              <a:rPr lang="en-US" b="1"/>
              <a:t>all Python packages</a:t>
            </a:r>
            <a:r>
              <a:rPr lang="en-US"/>
              <a:t> needed for preprocessing are installed (FastAPI, Scikit-learn, etc.).</a:t>
            </a:r>
          </a:p>
          <a:p>
            <a:pPr marL="171450" indent="-171450"/>
            <a:r>
              <a:rPr lang="en-US"/>
              <a:t>No version mismatch headaches when moving between dev and prod.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/>
              <a:t>information.ipynb</a:t>
            </a:r>
          </a:p>
          <a:p>
            <a:pPr marL="171450" indent="-171450"/>
            <a:r>
              <a:rPr lang="en-US"/>
              <a:t>Used mainly for </a:t>
            </a:r>
            <a:r>
              <a:rPr lang="en-US" b="1"/>
              <a:t>manual inspection, testing or debugging</a:t>
            </a:r>
            <a:r>
              <a:rPr lang="en-US"/>
              <a:t>.</a:t>
            </a:r>
          </a:p>
          <a:p>
            <a:pPr marL="171450" indent="-171450"/>
            <a:r>
              <a:rPr lang="en-US"/>
              <a:t>You can visually verify preprocessing steps worked before automating them.</a:t>
            </a:r>
          </a:p>
          <a:p>
            <a:pPr marL="0" indent="0">
              <a:buNone/>
            </a:pPr>
            <a:endParaRPr lang="en-U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8841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DFE0-A740-0F92-5E51-430ECC52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0C335-E4F8-4196-B647-2CE8A97AB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95252-C144-73CC-18F9-A59C4AC90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service.py</a:t>
            </a:r>
          </a:p>
          <a:p>
            <a:pPr marL="171450" indent="-171450"/>
            <a:r>
              <a:rPr lang="en-US" b="1"/>
              <a:t>Main script where data preprocessing logic lives.</a:t>
            </a:r>
            <a:endParaRPr lang="en-US"/>
          </a:p>
          <a:p>
            <a:pPr marL="171450" indent="-171450"/>
            <a:r>
              <a:rPr lang="en-US"/>
              <a:t>Handles steps like:</a:t>
            </a:r>
          </a:p>
          <a:p>
            <a:pPr marL="1085850" lvl="1" indent="-171450"/>
            <a:r>
              <a:rPr lang="en-US"/>
              <a:t>Dropping nulls/duplicates</a:t>
            </a:r>
          </a:p>
          <a:p>
            <a:pPr marL="1085850" lvl="1" indent="-171450"/>
            <a:r>
              <a:rPr lang="en-US"/>
              <a:t>Encoding categorical variables</a:t>
            </a:r>
          </a:p>
          <a:p>
            <a:pPr marL="1085850" lvl="1" indent="-171450"/>
            <a:r>
              <a:rPr lang="en-US"/>
              <a:t>Standardizing numerical values</a:t>
            </a:r>
          </a:p>
          <a:p>
            <a:pPr marL="1085850" lvl="1" indent="-171450"/>
            <a:r>
              <a:rPr lang="en-US"/>
              <a:t>Saving cleaned data to CSV</a:t>
            </a:r>
          </a:p>
          <a:p>
            <a:pPr marL="171450" indent="-171450"/>
            <a:r>
              <a:rPr lang="en-US" b="1"/>
              <a:t>Exposes API endpoints (/preprocess, /</a:t>
            </a:r>
            <a:r>
              <a:rPr lang="en-US" b="1" err="1"/>
              <a:t>healthz</a:t>
            </a:r>
            <a:r>
              <a:rPr lang="en-US" b="1"/>
              <a:t>)</a:t>
            </a:r>
            <a:r>
              <a:rPr lang="en-US"/>
              <a:t> so this can run as a </a:t>
            </a:r>
            <a:r>
              <a:rPr lang="en-US" b="1"/>
              <a:t>microservice</a:t>
            </a:r>
            <a:r>
              <a:rPr lang="en-US"/>
              <a:t>, not just a script.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 err="1"/>
              <a:t>Dockerfile</a:t>
            </a:r>
            <a:endParaRPr lang="en-US"/>
          </a:p>
          <a:p>
            <a:pPr marL="171450" indent="-171450"/>
            <a:r>
              <a:rPr lang="en-US" b="1"/>
              <a:t>Wraps the code in a container</a:t>
            </a:r>
            <a:r>
              <a:rPr lang="en-US"/>
              <a:t>, so it runs the same across any machine or cloud service.</a:t>
            </a:r>
          </a:p>
          <a:p>
            <a:pPr marL="171450" indent="-171450"/>
            <a:r>
              <a:rPr lang="en-US"/>
              <a:t>Good for </a:t>
            </a:r>
            <a:r>
              <a:rPr lang="en-US" b="1"/>
              <a:t>deployment</a:t>
            </a:r>
            <a:r>
              <a:rPr lang="en-US"/>
              <a:t> and </a:t>
            </a:r>
            <a:r>
              <a:rPr lang="en-US" b="1"/>
              <a:t>CI/CD pipelines</a:t>
            </a:r>
            <a:r>
              <a:rPr lang="en-US"/>
              <a:t>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/>
              <a:t>requirements.txt</a:t>
            </a:r>
          </a:p>
          <a:p>
            <a:pPr marL="171450" indent="-171450"/>
            <a:r>
              <a:rPr lang="en-US"/>
              <a:t>Ensures </a:t>
            </a:r>
            <a:r>
              <a:rPr lang="en-US" b="1"/>
              <a:t>all Python packages</a:t>
            </a:r>
            <a:r>
              <a:rPr lang="en-US"/>
              <a:t> needed for preprocessing are installed (</a:t>
            </a:r>
            <a:r>
              <a:rPr lang="en-US" err="1"/>
              <a:t>FastAPI</a:t>
            </a:r>
            <a:r>
              <a:rPr lang="en-US"/>
              <a:t>, Scikit-learn, etc.).</a:t>
            </a:r>
          </a:p>
          <a:p>
            <a:pPr marL="171450" indent="-171450"/>
            <a:r>
              <a:rPr lang="en-US"/>
              <a:t>No version mismatch headaches when moving between dev and prod.</a:t>
            </a:r>
          </a:p>
          <a:p>
            <a:pPr marL="171450" indent="-171450"/>
            <a:endParaRPr lang="en-US"/>
          </a:p>
          <a:p>
            <a:pPr marL="0" indent="0">
              <a:buNone/>
            </a:pPr>
            <a:r>
              <a:rPr lang="en-US" err="1"/>
              <a:t>information.ipynb</a:t>
            </a:r>
            <a:endParaRPr lang="en-US"/>
          </a:p>
          <a:p>
            <a:pPr marL="171450" indent="-171450"/>
            <a:r>
              <a:rPr lang="en-US"/>
              <a:t>Used mainly for </a:t>
            </a:r>
            <a:r>
              <a:rPr lang="en-US" b="1"/>
              <a:t>manual inspection, testing or debugging</a:t>
            </a:r>
            <a:r>
              <a:rPr lang="en-US"/>
              <a:t>.</a:t>
            </a:r>
          </a:p>
          <a:p>
            <a:pPr marL="171450" indent="-171450"/>
            <a:r>
              <a:rPr lang="en-US"/>
              <a:t>You can visually verify preprocessing steps worked before automating them.</a:t>
            </a:r>
          </a:p>
          <a:p>
            <a:pPr marL="0" indent="0">
              <a:buNone/>
            </a:pPr>
            <a:endParaRPr lang="en-U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191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F654FAC4-8780-260F-0E35-8FB530AD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8E167656-E115-4FBD-01F7-07DDCC1D6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8C9061CC-1E62-0BC5-A0EF-09B6D4592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360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C80A6C9-6DEE-7B11-60FD-E8736F5C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C08D7331-D6F7-8994-7648-76A3AA8FE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501925EF-5D0D-048C-5D9B-4CEF2DBD0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429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6FC50F4E-3A4F-365F-4186-B7723F9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508D3B7F-2BA8-E073-B154-741A5B9DF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AEBDB0C8-C555-0FFE-E98D-433EDE4B2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985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d1bf8d60a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d1bf8d60a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2" r:id="rId5"/>
    <p:sldLayoutId id="2147483663" r:id="rId6"/>
    <p:sldLayoutId id="2147483673" r:id="rId7"/>
    <p:sldLayoutId id="2147483674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EGT 307 Project</a:t>
            </a:r>
            <a:endParaRPr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898063"/>
            <a:ext cx="4449946" cy="4648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Developed by: Sai Keerthan, Xiu Wen, Wei Xuan, Hao Wen</a:t>
            </a:r>
            <a:endParaRPr sz="1300" dirty="0"/>
          </a:p>
        </p:txBody>
      </p:sp>
      <p:cxnSp>
        <p:nvCxnSpPr>
          <p:cNvPr id="370" name="Google Shape;370;p33"/>
          <p:cNvCxnSpPr>
            <a:cxnSpLocks/>
            <a:endCxn id="369" idx="1"/>
          </p:cNvCxnSpPr>
          <p:nvPr/>
        </p:nvCxnSpPr>
        <p:spPr>
          <a:xfrm rot="16200000" flipH="1">
            <a:off x="2011984" y="984766"/>
            <a:ext cx="3946132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54" name="Google Shape;454;p35"/>
          <p:cNvSpPr txBox="1">
            <a:spLocks noGrp="1"/>
          </p:cNvSpPr>
          <p:nvPr>
            <p:ph type="title" idx="5"/>
          </p:nvPr>
        </p:nvSpPr>
        <p:spPr>
          <a:xfrm>
            <a:off x="1960873" y="1198150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5" name="Google Shape;455;p35"/>
          <p:cNvSpPr txBox="1">
            <a:spLocks noGrp="1"/>
          </p:cNvSpPr>
          <p:nvPr>
            <p:ph type="title" idx="7"/>
          </p:nvPr>
        </p:nvSpPr>
        <p:spPr>
          <a:xfrm>
            <a:off x="1960873" y="2016467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6" name="Google Shape;456;p35"/>
          <p:cNvSpPr txBox="1">
            <a:spLocks noGrp="1"/>
          </p:cNvSpPr>
          <p:nvPr>
            <p:ph type="title" idx="8"/>
          </p:nvPr>
        </p:nvSpPr>
        <p:spPr>
          <a:xfrm>
            <a:off x="1960873" y="3514875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7" name="Google Shape;457;p35"/>
          <p:cNvSpPr txBox="1">
            <a:spLocks noGrp="1"/>
          </p:cNvSpPr>
          <p:nvPr>
            <p:ph type="title" idx="6"/>
          </p:nvPr>
        </p:nvSpPr>
        <p:spPr>
          <a:xfrm>
            <a:off x="1960873" y="2834783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8" name="Google Shape;458;p35"/>
          <p:cNvSpPr txBox="1">
            <a:spLocks noGrp="1"/>
          </p:cNvSpPr>
          <p:nvPr>
            <p:ph type="subTitle" idx="9"/>
          </p:nvPr>
        </p:nvSpPr>
        <p:spPr>
          <a:xfrm>
            <a:off x="2891823" y="126766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459" name="Google Shape;459;p35"/>
          <p:cNvSpPr txBox="1">
            <a:spLocks noGrp="1"/>
          </p:cNvSpPr>
          <p:nvPr>
            <p:ph type="subTitle" idx="13"/>
          </p:nvPr>
        </p:nvSpPr>
        <p:spPr>
          <a:xfrm>
            <a:off x="2891823" y="2084408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System Architecture</a:t>
            </a:r>
            <a:endParaRPr/>
          </a:p>
        </p:txBody>
      </p:sp>
      <p:sp>
        <p:nvSpPr>
          <p:cNvPr id="460" name="Google Shape;460;p35"/>
          <p:cNvSpPr txBox="1">
            <a:spLocks noGrp="1"/>
          </p:cNvSpPr>
          <p:nvPr>
            <p:ph type="subTitle" idx="14"/>
          </p:nvPr>
        </p:nvSpPr>
        <p:spPr>
          <a:xfrm>
            <a:off x="2891823" y="3458661"/>
            <a:ext cx="4240500" cy="4760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 and Solutions</a:t>
            </a:r>
            <a:endParaRPr dirty="0"/>
          </a:p>
        </p:txBody>
      </p:sp>
      <p:sp>
        <p:nvSpPr>
          <p:cNvPr id="461" name="Google Shape;461;p35"/>
          <p:cNvSpPr txBox="1">
            <a:spLocks noGrp="1"/>
          </p:cNvSpPr>
          <p:nvPr>
            <p:ph type="subTitle" idx="15"/>
          </p:nvPr>
        </p:nvSpPr>
        <p:spPr>
          <a:xfrm>
            <a:off x="2891823" y="42154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Demonstration</a:t>
            </a:r>
            <a:endParaRPr dirty="0"/>
          </a:p>
        </p:txBody>
      </p:sp>
      <p:sp>
        <p:nvSpPr>
          <p:cNvPr id="2" name="Google Shape;456;p35">
            <a:extLst>
              <a:ext uri="{FF2B5EF4-FFF2-40B4-BE49-F238E27FC236}">
                <a16:creationId xmlns:a16="http://schemas.microsoft.com/office/drawing/2014/main" id="{D8543F72-195A-BC9D-707F-E9FF5968F1E8}"/>
              </a:ext>
            </a:extLst>
          </p:cNvPr>
          <p:cNvSpPr txBox="1">
            <a:spLocks/>
          </p:cNvSpPr>
          <p:nvPr/>
        </p:nvSpPr>
        <p:spPr>
          <a:xfrm>
            <a:off x="1960873" y="41949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2000" b="1" i="0" u="none" strike="noStrike" cap="non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3" name="Google Shape;459;p35">
            <a:extLst>
              <a:ext uri="{FF2B5EF4-FFF2-40B4-BE49-F238E27FC236}">
                <a16:creationId xmlns:a16="http://schemas.microsoft.com/office/drawing/2014/main" id="{F4C67A29-3C45-430A-F911-5D89B4105B07}"/>
              </a:ext>
            </a:extLst>
          </p:cNvPr>
          <p:cNvSpPr txBox="1">
            <a:spLocks/>
          </p:cNvSpPr>
          <p:nvPr/>
        </p:nvSpPr>
        <p:spPr>
          <a:xfrm>
            <a:off x="2891823" y="292403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en-SG" dirty="0"/>
              <a:t>Additional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>
            <a:spLocks noGrp="1"/>
          </p:cNvSpPr>
          <p:nvPr>
            <p:ph type="title"/>
          </p:nvPr>
        </p:nvSpPr>
        <p:spPr>
          <a:xfrm>
            <a:off x="1015883" y="1974433"/>
            <a:ext cx="3949481" cy="1453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Project Objective</a:t>
            </a:r>
            <a:endParaRPr sz="4000"/>
          </a:p>
        </p:txBody>
      </p:sp>
      <p:sp>
        <p:nvSpPr>
          <p:cNvPr id="468" name="Google Shape;468;p36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69" name="Google Shape;469;p36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/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/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/>
          <p:cNvCxnSpPr>
            <a:cxnSpLocks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400332" y="1327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526" name="Google Shape;526;p38"/>
          <p:cNvSpPr txBox="1">
            <a:spLocks noGrp="1"/>
          </p:cNvSpPr>
          <p:nvPr>
            <p:ph type="subTitle" idx="2"/>
          </p:nvPr>
        </p:nvSpPr>
        <p:spPr>
          <a:xfrm>
            <a:off x="828663" y="1004058"/>
            <a:ext cx="7486673" cy="3135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Objective: </a:t>
            </a:r>
            <a:r>
              <a:rPr lang="en" sz="1600"/>
              <a:t>Deploy an end-to-end AI Application in Kubernetes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Chosen AI Application: </a:t>
            </a:r>
            <a:r>
              <a:rPr lang="en" sz="1600"/>
              <a:t>Diabetes Prediction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b="1"/>
              <a:t>Requirements: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SG" sz="1600"/>
              <a:t>Modules are containerised and deployed in Kubernetes: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sz="1600"/>
              <a:t>Scaling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sz="1600"/>
              <a:t>Self-healing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sz="1600"/>
              <a:t>Rollout/rollback updates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/>
              <a:t>2) 4 functional modules: UI, Data preprocessing, Model training, Model inference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/>
              <a:t>3) Version control through GitHub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9229BA-CE9F-04E5-AA6C-560E6BDB5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12" y="147569"/>
            <a:ext cx="7389576" cy="296008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63388-9083-8C87-D06D-125F1F4D8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53571"/>
              </p:ext>
            </p:extLst>
          </p:nvPr>
        </p:nvGraphicFramePr>
        <p:xfrm>
          <a:off x="1524000" y="3141731"/>
          <a:ext cx="6096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33067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3476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Contribution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Group Member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017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UI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Xiu Wen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15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Data Preprocessing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Wei Xuan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11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 Training &amp; k8s master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Sai Keerthan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97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 Inference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Hao Wen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0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994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D62BA57-683F-E2E1-8C04-1278FF5E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68EC77DD-566C-A075-F4C1-9C8A94FCD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5883" y="1974433"/>
            <a:ext cx="3949481" cy="1453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SG" sz="4000"/>
              <a:t>System Architecture</a:t>
            </a:r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698BE049-DC41-054C-808D-510B980980E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8EB27EFF-8ED1-F262-ED47-7F99C25C0FE7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37501E47-59E1-664C-5B8F-ADD410E72F2D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F660DDB1-13B1-25F8-2E2E-11D20AF1849B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41BE5FD4-FE52-4559-371A-56F21F22F960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3A1AC111-2007-794C-68A9-EE7D4CAD1E91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3CFB1BFF-8121-9091-C271-BC4DC2DA6E41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7C129647-2F24-7A87-D499-ED6E22AC4693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ADD0A8BE-6660-A300-D884-4F14C243CF9F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6FAC1164-4E60-FAA3-101A-C1B0A78974BF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4319FA9E-26E7-028A-41BB-40D51BA591CE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C8209749-839B-17AC-0F59-E55F9203D4C1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AAF42F69-9B14-75E2-B909-678F00ED0015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E1FBB03D-2645-D548-0121-D640A67C786A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F8F431FD-0BDC-D7C6-49A1-8FE1423F8DD3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EE505FD5-FE59-0B43-C4C1-5A7027FEA3B4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B4AD6D55-3B31-09D4-FB1B-7BC05422496E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70CCB9E2-FA05-AEE8-00CF-2F69A9E436EF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0CFDEF49-18C3-F1D9-8971-CB6ABBAEA9BA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3C46210C-0722-C7F4-44E1-B4B43A3715D4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497DB298-14F7-3290-6B65-548EEAE20E97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138D971C-0C70-2BFD-2374-647137D04B91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6B1DAD57-4C58-340B-88F4-E94BB7B7B91A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BC21396D-4EC2-EE27-AD91-BE31BBE84651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623D61D4-BBBD-705E-9D1D-8EF15E8FF2CB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7A4EA532-8D9B-357B-C59B-21B82A4196C5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3D4FD1C4-1B5E-8965-FA3F-5650F2A309CC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1AAE2F3F-91F4-D502-38F8-25EFBECE94A5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96706FD9-FDA2-CF08-A09D-64BDA9CE9464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4393BDF3-2B05-B9CA-60F1-34AC466E71DC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22631BDB-3453-D082-E9B8-841692BB3E2D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9733C58A-54C3-7445-C6FC-43D22485483F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5A9A7FDF-677D-EE20-0287-5CA918317D1A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5C48A86A-D5CC-93AC-186C-67BB9C702334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FA92CC5F-048E-2423-3035-69993598B68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2E9E5625-82BF-F904-B8E3-959FC07BD1AF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83144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690B-0BE2-2C28-A8AC-40A17096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FD902A28-6220-ED8D-54A5-12060D4FD7F8}"/>
              </a:ext>
            </a:extLst>
          </p:cNvPr>
          <p:cNvSpPr txBox="1">
            <a:spLocks/>
          </p:cNvSpPr>
          <p:nvPr/>
        </p:nvSpPr>
        <p:spPr>
          <a:xfrm>
            <a:off x="40333" y="-40005"/>
            <a:ext cx="8537882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Project 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19929-2B40-4523-D72A-C52DAE674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490"/>
            <a:ext cx="9144000" cy="338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6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693C-1F7B-F2FF-A3D8-E5F90F79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6CAA3110-E609-25A7-0F48-1D6C412BF981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UI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82C508-7ADF-DA03-3421-8FB80545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34" y="705491"/>
            <a:ext cx="6881533" cy="442384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1F4E393-E967-FD01-B799-F6FA22B4D0DD}"/>
              </a:ext>
            </a:extLst>
          </p:cNvPr>
          <p:cNvSpPr/>
          <p:nvPr/>
        </p:nvSpPr>
        <p:spPr>
          <a:xfrm>
            <a:off x="1131233" y="1278191"/>
            <a:ext cx="883421" cy="929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FF5093-E1E8-8629-E363-AC4ABBD9F856}"/>
              </a:ext>
            </a:extLst>
          </p:cNvPr>
          <p:cNvCxnSpPr/>
          <p:nvPr/>
        </p:nvCxnSpPr>
        <p:spPr>
          <a:xfrm>
            <a:off x="804129" y="1099771"/>
            <a:ext cx="327103" cy="3568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F257CF-26A7-3076-C26C-F85A80BCEFEC}"/>
              </a:ext>
            </a:extLst>
          </p:cNvPr>
          <p:cNvSpPr txBox="1"/>
          <p:nvPr/>
        </p:nvSpPr>
        <p:spPr>
          <a:xfrm>
            <a:off x="0" y="773379"/>
            <a:ext cx="1728439" cy="30777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/</a:t>
            </a:r>
            <a:r>
              <a:rPr lang="en-SG" err="1">
                <a:solidFill>
                  <a:srgbClr val="FF0000"/>
                </a:solidFill>
              </a:rPr>
              <a:t>healthz</a:t>
            </a:r>
            <a:r>
              <a:rPr lang="en-SG">
                <a:solidFill>
                  <a:srgbClr val="FF0000"/>
                </a:solidFill>
              </a:rPr>
              <a:t> endpoints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A09A6F-6FEA-23A0-D5EA-22308A9AA005}"/>
              </a:ext>
            </a:extLst>
          </p:cNvPr>
          <p:cNvSpPr/>
          <p:nvPr/>
        </p:nvSpPr>
        <p:spPr>
          <a:xfrm>
            <a:off x="2391440" y="1516084"/>
            <a:ext cx="1935233" cy="3052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0D350-0196-B0DC-92C0-9BDA7850D346}"/>
              </a:ext>
            </a:extLst>
          </p:cNvPr>
          <p:cNvSpPr txBox="1"/>
          <p:nvPr/>
        </p:nvSpPr>
        <p:spPr>
          <a:xfrm>
            <a:off x="4024968" y="837952"/>
            <a:ext cx="1728439" cy="30777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POST /preprocess</a:t>
            </a:r>
            <a:endParaRPr lang="en-GB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D6E725-5F1B-AAEC-7BEA-125C1D21EE55}"/>
              </a:ext>
            </a:extLst>
          </p:cNvPr>
          <p:cNvCxnSpPr>
            <a:cxnSpLocks/>
          </p:cNvCxnSpPr>
          <p:nvPr/>
        </p:nvCxnSpPr>
        <p:spPr>
          <a:xfrm flipH="1">
            <a:off x="4246075" y="1278190"/>
            <a:ext cx="325925" cy="237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E1DC093-CD11-B632-0CAB-C9C52CFC9943}"/>
              </a:ext>
            </a:extLst>
          </p:cNvPr>
          <p:cNvSpPr/>
          <p:nvPr/>
        </p:nvSpPr>
        <p:spPr>
          <a:xfrm>
            <a:off x="2272493" y="2764771"/>
            <a:ext cx="1935233" cy="3052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24E7B-F394-91A4-FF2F-E0631A193A01}"/>
              </a:ext>
            </a:extLst>
          </p:cNvPr>
          <p:cNvSpPr txBox="1"/>
          <p:nvPr/>
        </p:nvSpPr>
        <p:spPr>
          <a:xfrm>
            <a:off x="4409037" y="2358227"/>
            <a:ext cx="1728439" cy="30777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POST /train</a:t>
            </a:r>
            <a:endParaRPr lang="en-GB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B53C5B-CC04-0233-A1E3-5138252A000D}"/>
              </a:ext>
            </a:extLst>
          </p:cNvPr>
          <p:cNvCxnSpPr>
            <a:cxnSpLocks/>
          </p:cNvCxnSpPr>
          <p:nvPr/>
        </p:nvCxnSpPr>
        <p:spPr>
          <a:xfrm flipH="1">
            <a:off x="4044763" y="2595512"/>
            <a:ext cx="325925" cy="237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1B32C82D-61A9-F775-7600-DAC9180ABCC1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UI</a:t>
            </a:r>
          </a:p>
        </p:txBody>
      </p:sp>
      <p:sp>
        <p:nvSpPr>
          <p:cNvPr id="4" name="Google Shape;526;p38">
            <a:extLst>
              <a:ext uri="{FF2B5EF4-FFF2-40B4-BE49-F238E27FC236}">
                <a16:creationId xmlns:a16="http://schemas.microsoft.com/office/drawing/2014/main" id="{95090E42-A1F7-37EB-65E8-B01C5B32D819}"/>
              </a:ext>
            </a:extLst>
          </p:cNvPr>
          <p:cNvSpPr txBox="1">
            <a:spLocks/>
          </p:cNvSpPr>
          <p:nvPr/>
        </p:nvSpPr>
        <p:spPr>
          <a:xfrm>
            <a:off x="632527" y="732557"/>
            <a:ext cx="6630010" cy="39658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Services and Endpoints: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 at </a:t>
            </a: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PREPROC_URL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 at TRAIN_URL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Inference at INFER_URL</a:t>
            </a:r>
          </a:p>
          <a:p>
            <a:pPr marL="342900" indent="-342900">
              <a:buAutoNum type="arabicParenR"/>
            </a:pPr>
            <a:endParaRPr lang="en-GB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Base URLs are configurable by environmental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GB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API wrapper: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UI uses </a:t>
            </a:r>
            <a:r>
              <a:rPr lang="en-GB" sz="160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BackendClient</a:t>
            </a:r>
            <a:r>
              <a:rPr lang="en-GB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Makes UI portable, it gets its config from environment variables instead of hardcoding.</a:t>
            </a:r>
            <a:endParaRPr lang="en-GB" sz="160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>
              <a:latin typeface="Consolas" panose="020B0609020204030204" pitchFamily="49" charset="0"/>
            </a:endParaRPr>
          </a:p>
          <a:p>
            <a:pPr marL="342900" indent="-342900">
              <a:buAutoNum type="arabicParenR"/>
            </a:pPr>
            <a:endParaRPr lang="en-GB" sz="1600">
              <a:latin typeface="Consolas" panose="020B0609020204030204" pitchFamily="49" charset="0"/>
            </a:endParaRPr>
          </a:p>
          <a:p>
            <a:endParaRPr lang="en-GB" sz="1600">
              <a:latin typeface="Consolas" panose="020B0609020204030204" pitchFamily="49" charset="0"/>
            </a:endParaRPr>
          </a:p>
          <a:p>
            <a:pPr marL="342900" indent="-342900">
              <a:buAutoNum type="arabicParenR"/>
            </a:pPr>
            <a:endParaRPr lang="en-GB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AutoNum type="arabicParenR"/>
            </a:pPr>
            <a:endParaRPr lang="en-SG" sz="1600" b="1"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Functions:</a:t>
            </a:r>
          </a:p>
          <a:p>
            <a:pPr marL="342900" indent="-342900">
              <a:buAutoNum type="arabicParenR"/>
            </a:pPr>
            <a:r>
              <a:rPr lang="en-SG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Upload &amp; Preprocess </a:t>
            </a:r>
          </a:p>
          <a:p>
            <a:pPr marL="342900" indent="-342900">
              <a:buAutoNum type="arabicParenR"/>
            </a:pPr>
            <a:r>
              <a:rPr lang="en-SG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 Model</a:t>
            </a:r>
          </a:p>
          <a:p>
            <a:pPr marL="342900" indent="-342900">
              <a:buAutoNum type="arabicParenR"/>
            </a:pPr>
            <a:r>
              <a:rPr lang="en-SG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 (Manual)</a:t>
            </a:r>
          </a:p>
          <a:p>
            <a:pPr marL="342900" indent="-342900">
              <a:buAutoNum type="arabicParenR"/>
            </a:pPr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76118-04E1-4789-8728-3A1FB88E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0" y="1129052"/>
            <a:ext cx="4853940" cy="5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7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EAAC2-7541-1303-F3F8-190AB77C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138358F-56F9-B620-1FC0-68C20F63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0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74DA-983E-BF38-53FF-44DD0F3E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8F0D44C4-8245-92C9-AFB2-6BED27AA825D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8669816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/>
                <a:cs typeface="Sora"/>
              </a:rPr>
              <a:t>Preprocessing (Overview of Cleaning)</a:t>
            </a:r>
            <a:endParaRPr lang="en-GB" sz="3000" b="1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F036E-8C63-76FE-FD73-B816D34D67CC}"/>
              </a:ext>
            </a:extLst>
          </p:cNvPr>
          <p:cNvSpPr txBox="1"/>
          <p:nvPr/>
        </p:nvSpPr>
        <p:spPr>
          <a:xfrm>
            <a:off x="779481" y="927490"/>
            <a:ext cx="7589207" cy="40164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Lato"/>
              </a:rPr>
              <a:t>Step 1: Input Handling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>
                <a:latin typeface="Lato"/>
              </a:rPr>
              <a:t>Receives a .csv file uploaded from the UI</a:t>
            </a:r>
          </a:p>
          <a:p>
            <a:pPr marL="285750" indent="-285750">
              <a:buChar char="•"/>
            </a:pPr>
            <a:r>
              <a:rPr lang="en-US" sz="1500">
                <a:latin typeface="Lato"/>
                <a:ea typeface="Lato"/>
                <a:cs typeface="Lato"/>
              </a:rPr>
              <a:t>Stores the raw file into a local folder (RAW_DIR)</a:t>
            </a:r>
          </a:p>
          <a:p>
            <a:pPr marL="285750" indent="-285750">
              <a:buChar char="•"/>
            </a:pPr>
            <a:r>
              <a:rPr lang="en-US" sz="1500">
                <a:latin typeface="Lato"/>
                <a:ea typeface="Lato"/>
                <a:cs typeface="Lato"/>
              </a:rPr>
              <a:t>Loads into memory for cleaning</a:t>
            </a:r>
          </a:p>
          <a:p>
            <a:endParaRPr lang="en-US" sz="1500"/>
          </a:p>
          <a:p>
            <a:r>
              <a:rPr lang="en-US" sz="1500" b="1">
                <a:latin typeface="Lato"/>
              </a:rPr>
              <a:t>Step 2: Cleaning the Data</a:t>
            </a:r>
            <a:endParaRPr lang="en-US" sz="1500">
              <a:latin typeface="Lato"/>
            </a:endParaRPr>
          </a:p>
          <a:p>
            <a:r>
              <a:rPr lang="en-US" sz="1500">
                <a:latin typeface="Lato"/>
              </a:rPr>
              <a:t>Removes:</a:t>
            </a:r>
          </a:p>
          <a:p>
            <a:pPr marL="285750" lvl="1" indent="-285750">
              <a:buChar char="•"/>
            </a:pPr>
            <a:r>
              <a:rPr lang="en-US" sz="1500">
                <a:latin typeface="Lato"/>
              </a:rPr>
              <a:t>Rows with missing or blank </a:t>
            </a:r>
            <a:r>
              <a:rPr lang="en-US" sz="1500" err="1">
                <a:latin typeface="Lato"/>
              </a:rPr>
              <a:t>jobId</a:t>
            </a:r>
          </a:p>
          <a:p>
            <a:pPr marL="285750" lvl="1" indent="-285750">
              <a:buChar char="•"/>
            </a:pPr>
            <a:r>
              <a:rPr lang="en-US" sz="1500">
                <a:latin typeface="Lato"/>
              </a:rPr>
              <a:t>Duplicates</a:t>
            </a:r>
          </a:p>
          <a:p>
            <a:r>
              <a:rPr lang="en-US" sz="1500">
                <a:latin typeface="Lato"/>
              </a:rPr>
              <a:t>Normalizes text:</a:t>
            </a:r>
          </a:p>
          <a:p>
            <a:pPr marL="285750" lvl="1" indent="-285750">
              <a:buChar char="•"/>
            </a:pPr>
            <a:r>
              <a:rPr lang="en-US" sz="1500">
                <a:latin typeface="Lato"/>
              </a:rPr>
              <a:t>Trims whitespace</a:t>
            </a:r>
          </a:p>
          <a:p>
            <a:pPr marL="285750" lvl="1" indent="-285750">
              <a:buChar char="•"/>
            </a:pPr>
            <a:r>
              <a:rPr lang="en-US" sz="1500">
                <a:latin typeface="Lato"/>
              </a:rPr>
              <a:t>Converts to uppercase (e.g. "finance" → "FINANCE")</a:t>
            </a:r>
          </a:p>
          <a:p>
            <a:pPr lvl="1"/>
            <a:endParaRPr lang="en-US" sz="1500"/>
          </a:p>
          <a:p>
            <a:pPr lvl="1"/>
            <a:r>
              <a:rPr lang="en-US" sz="1500" b="1">
                <a:latin typeface="Lato"/>
              </a:rPr>
              <a:t>Step 3: Missing Value Imputation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 b="1">
                <a:latin typeface="Lato"/>
              </a:rPr>
              <a:t>Categorical</a:t>
            </a:r>
            <a:r>
              <a:rPr lang="en-US" sz="1500">
                <a:latin typeface="Lato"/>
              </a:rPr>
              <a:t> → Fill with </a:t>
            </a:r>
            <a:r>
              <a:rPr lang="en-US" sz="1500" b="1">
                <a:latin typeface="Lato"/>
              </a:rPr>
              <a:t>mode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 b="1">
                <a:latin typeface="Lato"/>
              </a:rPr>
              <a:t>Numerical</a:t>
            </a:r>
            <a:r>
              <a:rPr lang="en-US" sz="1500">
                <a:latin typeface="Lato"/>
              </a:rPr>
              <a:t> → Fill with </a:t>
            </a:r>
            <a:r>
              <a:rPr lang="en-US" sz="1500" b="1">
                <a:latin typeface="Lato"/>
              </a:rPr>
              <a:t>median</a:t>
            </a:r>
            <a:endParaRPr lang="en-US" sz="1500">
              <a:latin typeface="Lato"/>
            </a:endParaRPr>
          </a:p>
          <a:p>
            <a:endParaRPr lang="en-US" sz="150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37813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24B7-B6AF-D2FE-67E1-A98C3646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BBEFF504-2BA2-8469-1B18-24A4BFFCC24A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9053539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/>
                <a:cs typeface="Sora"/>
              </a:rPr>
              <a:t>Preprocessing (Overview of Cleaning)</a:t>
            </a:r>
            <a:endParaRPr lang="en-GB" sz="3000" b="1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15330-3A5B-13DE-A4B5-B4D902353D81}"/>
              </a:ext>
            </a:extLst>
          </p:cNvPr>
          <p:cNvSpPr txBox="1"/>
          <p:nvPr/>
        </p:nvSpPr>
        <p:spPr>
          <a:xfrm>
            <a:off x="800089" y="1017750"/>
            <a:ext cx="7941501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Lato"/>
              </a:rPr>
              <a:t>Step 4: Outlier Removal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>
                <a:latin typeface="Lato"/>
              </a:rPr>
              <a:t>Uses </a:t>
            </a:r>
            <a:r>
              <a:rPr lang="en-US" sz="1500" b="1">
                <a:latin typeface="Lato"/>
              </a:rPr>
              <a:t>IQR (Interquartile Range)</a:t>
            </a:r>
            <a:r>
              <a:rPr lang="en-US" sz="1500">
                <a:latin typeface="Lato"/>
              </a:rPr>
              <a:t> to detect and remove extreme values</a:t>
            </a:r>
          </a:p>
          <a:p>
            <a:pPr marL="285750" indent="-285750">
              <a:buChar char="•"/>
            </a:pPr>
            <a:r>
              <a:rPr lang="en-US" sz="1500">
                <a:latin typeface="Lato"/>
              </a:rPr>
              <a:t>Mainly for numerical features like salary or experience</a:t>
            </a:r>
            <a:br>
              <a:rPr lang="en-US" sz="1500">
                <a:latin typeface="Lato"/>
              </a:rPr>
            </a:br>
            <a:endParaRPr lang="en-US" sz="1500">
              <a:latin typeface="Lato"/>
            </a:endParaRPr>
          </a:p>
          <a:p>
            <a:r>
              <a:rPr lang="en-US" sz="1500" b="1">
                <a:latin typeface="Lato"/>
              </a:rPr>
              <a:t>Step 5: Feature Engineering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 b="1">
                <a:latin typeface="Lato"/>
              </a:rPr>
              <a:t>One-hot encoding</a:t>
            </a:r>
            <a:r>
              <a:rPr lang="en-US" sz="1500">
                <a:latin typeface="Lato"/>
              </a:rPr>
              <a:t> for categorical columns</a:t>
            </a:r>
          </a:p>
          <a:p>
            <a:pPr marL="285750" indent="-285750">
              <a:buChar char="•"/>
            </a:pPr>
            <a:r>
              <a:rPr lang="en-US" sz="1500" b="1" err="1">
                <a:latin typeface="Lato"/>
              </a:rPr>
              <a:t>MinMax</a:t>
            </a:r>
            <a:r>
              <a:rPr lang="en-US" sz="1500" b="1">
                <a:latin typeface="Lato"/>
              </a:rPr>
              <a:t> scaling</a:t>
            </a:r>
            <a:r>
              <a:rPr lang="en-US" sz="1500">
                <a:latin typeface="Lato"/>
              </a:rPr>
              <a:t> for numerical columns</a:t>
            </a:r>
          </a:p>
          <a:p>
            <a:pPr marL="285750" indent="-285750">
              <a:buChar char="•"/>
            </a:pPr>
            <a:endParaRPr lang="en-US" sz="1500">
              <a:latin typeface="Lato"/>
            </a:endParaRPr>
          </a:p>
          <a:p>
            <a:r>
              <a:rPr lang="en-US" sz="1500" b="1">
                <a:latin typeface="Lato"/>
              </a:rPr>
              <a:t>Step 6: Output</a:t>
            </a:r>
            <a:endParaRPr lang="en-US" sz="1500">
              <a:latin typeface="Lato"/>
            </a:endParaRPr>
          </a:p>
          <a:p>
            <a:pPr marL="285750" indent="-285750">
              <a:buChar char="•"/>
            </a:pPr>
            <a:r>
              <a:rPr lang="en-US" sz="1500">
                <a:latin typeface="Lato"/>
              </a:rPr>
              <a:t>Cleaned data is saved into </a:t>
            </a:r>
            <a:r>
              <a:rPr lang="en-US" sz="1500"/>
              <a:t>/shared/data/clean (CLEAN_DIR)</a:t>
            </a:r>
          </a:p>
          <a:p>
            <a:pPr marL="285750" indent="-285750">
              <a:buChar char="•"/>
            </a:pPr>
            <a:r>
              <a:rPr lang="en-US" sz="1500">
                <a:latin typeface="Lato"/>
              </a:rPr>
              <a:t>Processing logs include:</a:t>
            </a:r>
          </a:p>
          <a:p>
            <a:pPr marL="742950" lvl="2" indent="-285750">
              <a:buFont typeface="Wingdings"/>
              <a:buChar char="§"/>
            </a:pPr>
            <a:r>
              <a:rPr lang="en-US" sz="1500">
                <a:latin typeface="Lato"/>
              </a:rPr>
              <a:t>Number of rows dropped</a:t>
            </a:r>
          </a:p>
          <a:p>
            <a:pPr marL="742950" lvl="2" indent="-285750">
              <a:buFont typeface="Wingdings"/>
              <a:buChar char="§"/>
            </a:pPr>
            <a:r>
              <a:rPr lang="en-US" sz="1500">
                <a:latin typeface="Lato"/>
              </a:rPr>
              <a:t>Number of missing values filled</a:t>
            </a:r>
          </a:p>
          <a:p>
            <a:pPr marL="742950" lvl="2" indent="-285750">
              <a:buFont typeface="Wingdings"/>
              <a:buChar char="§"/>
            </a:pPr>
            <a:r>
              <a:rPr lang="en-US" sz="1500">
                <a:latin typeface="Lato"/>
              </a:rPr>
              <a:t>Output is ready for model training or prediction</a:t>
            </a:r>
          </a:p>
          <a:p>
            <a:endParaRPr lang="en-US" sz="1500" b="1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55001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88EF-FD7A-7251-9628-1BCE1F3C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49817221-EB55-0B60-17C8-5DD9EB40B43E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0C4E7-0750-7AD3-1305-8FCE93549028}"/>
              </a:ext>
            </a:extLst>
          </p:cNvPr>
          <p:cNvSpPr txBox="1"/>
          <p:nvPr/>
        </p:nvSpPr>
        <p:spPr>
          <a:xfrm>
            <a:off x="474673" y="705491"/>
            <a:ext cx="85435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Service.py: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/>
              <a:t>This is the front door to our training service, built with </a:t>
            </a:r>
            <a:r>
              <a:rPr lang="en-SG" b="1" err="1"/>
              <a:t>FastAPI</a:t>
            </a:r>
            <a:r>
              <a:rPr lang="en-SG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/>
              <a:t>It exposes a </a:t>
            </a:r>
            <a:r>
              <a:rPr lang="en-SG" b="1"/>
              <a:t>/train </a:t>
            </a:r>
            <a:r>
              <a:rPr lang="en-SG"/>
              <a:t>endpoint that kicks off training as a </a:t>
            </a:r>
            <a:r>
              <a:rPr lang="en-SG" b="1"/>
              <a:t>background job</a:t>
            </a:r>
            <a:r>
              <a:rPr lang="en-SG"/>
              <a:t>, so the UI never freezes.</a:t>
            </a:r>
          </a:p>
          <a:p>
            <a:pPr marL="285750" indent="-285750">
              <a:buFont typeface="Wingdings" pitchFamily="2" charset="2"/>
              <a:buChar char="Ø"/>
            </a:pPr>
            <a:endParaRPr lang="en-SG"/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GB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Train.py:</a:t>
            </a:r>
            <a:endParaRPr lang="en-GB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SG"/>
              <a:t>This script handles the actual ML work.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S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splits the data into train, validation, and test sets using scikit-learn</a:t>
            </a:r>
            <a:r>
              <a:rPr lang="en-SG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SG"/>
              <a:t>It trains a powerful </a:t>
            </a:r>
            <a:r>
              <a:rPr lang="en-SG" b="1" err="1"/>
              <a:t>XGBoost</a:t>
            </a:r>
            <a:r>
              <a:rPr lang="en-SG" b="1"/>
              <a:t> Classifier</a:t>
            </a:r>
            <a:r>
              <a:rPr lang="en-SG"/>
              <a:t> model.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S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Finally, it saves the trained model (.</a:t>
            </a:r>
            <a:r>
              <a:rPr lang="en-SG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joblib</a:t>
            </a:r>
            <a:r>
              <a:rPr lang="en-S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file) and a detailed JSON report with performance metrics like accuracy and F1-score.</a:t>
            </a:r>
          </a:p>
          <a:p>
            <a:pPr marL="171450" indent="-171450">
              <a:buFont typeface="Wingdings" pitchFamily="2" charset="2"/>
              <a:buChar char="Ø"/>
            </a:pPr>
            <a:endParaRPr lang="en-S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SG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Dockerfile</a:t>
            </a:r>
            <a:r>
              <a:rPr lang="en-SG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endParaRPr lang="en-S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SG"/>
              <a:t>This file packages our entire service into a lightweight and portable </a:t>
            </a:r>
            <a:r>
              <a:rPr lang="en-SG" b="1"/>
              <a:t>Docker container</a:t>
            </a:r>
            <a:r>
              <a:rPr lang="en-SG"/>
              <a:t>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SG"/>
              <a:t>It configures the container to run our </a:t>
            </a:r>
            <a:r>
              <a:rPr lang="en-SG" b="1" err="1"/>
              <a:t>FastAPI</a:t>
            </a:r>
            <a:r>
              <a:rPr lang="en-SG" b="1"/>
              <a:t> service </a:t>
            </a:r>
            <a:r>
              <a:rPr lang="en-SG"/>
              <a:t>using the </a:t>
            </a:r>
            <a:r>
              <a:rPr lang="en-SG" err="1"/>
              <a:t>uvicorn</a:t>
            </a:r>
            <a:r>
              <a:rPr lang="en-SG"/>
              <a:t> server, ready for deployment in Kubernetes.</a:t>
            </a:r>
          </a:p>
          <a:p>
            <a:pPr marL="171450" indent="-171450">
              <a:buFont typeface="Wingdings" pitchFamily="2" charset="2"/>
              <a:buChar char="Ø"/>
            </a:pPr>
            <a:endParaRPr lang="en-S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Requirements.txt: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SG"/>
              <a:t> Programming dependencies.</a:t>
            </a:r>
            <a:endParaRPr lang="en-S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26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36DB-C773-B671-0094-7C3A6BCD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549E76E5-6B79-A474-7AFC-2DF70694F2FD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Model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F3B1E-3765-F81A-14CF-DD294E55838E}"/>
              </a:ext>
            </a:extLst>
          </p:cNvPr>
          <p:cNvSpPr txBox="1"/>
          <p:nvPr/>
        </p:nvSpPr>
        <p:spPr>
          <a:xfrm>
            <a:off x="821724" y="705880"/>
            <a:ext cx="768590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1800" b="1">
                <a:solidFill>
                  <a:srgbClr val="0C343D"/>
                </a:solidFill>
                <a:latin typeface="Lato"/>
              </a:rPr>
              <a:t>Files in Services:</a:t>
            </a:r>
            <a:r>
              <a:rPr lang="en-US" sz="1800">
                <a:solidFill>
                  <a:srgbClr val="0C343D"/>
                </a:solidFill>
                <a:latin typeface="Lato"/>
              </a:rPr>
              <a:t>​</a:t>
            </a:r>
          </a:p>
          <a:p>
            <a:pPr marL="342900" indent="-342900">
              <a:buFont typeface="+mj-lt"/>
              <a:buAutoNum type="arabicParenR"/>
            </a:pPr>
            <a:r>
              <a:rPr lang="en-SG" sz="1800" b="1" u="sng">
                <a:solidFill>
                  <a:srgbClr val="0C343D"/>
                </a:solidFill>
                <a:latin typeface="Lato"/>
              </a:rPr>
              <a:t>service.py</a:t>
            </a:r>
            <a:endParaRPr lang="en-US" sz="1800">
              <a:solidFill>
                <a:srgbClr val="0C343D"/>
              </a:solidFill>
              <a:latin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SG" sz="1800" err="1">
                <a:solidFill>
                  <a:srgbClr val="0C343D"/>
                </a:solidFill>
              </a:rPr>
              <a:t>FastAPI</a:t>
            </a:r>
            <a:r>
              <a:rPr lang="en-SG" sz="1800">
                <a:solidFill>
                  <a:srgbClr val="0C343D"/>
                </a:solidFill>
              </a:rPr>
              <a:t> service that reloads our trained model/artifacts, replays the same preprocessing used in training (encoders, optional scaler),aligns features, runs predicts, optionally returns top-k probabilities, and can save a CSV of predictions. Two modes to save: JSON records or cleaned CSV.</a:t>
            </a:r>
            <a:endParaRPr lang="en-SG" sz="1800">
              <a:solidFill>
                <a:srgbClr val="0C343D"/>
              </a:solidFill>
              <a:latin typeface="Lato"/>
            </a:endParaRPr>
          </a:p>
          <a:p>
            <a:r>
              <a:rPr lang="en-SG" sz="1800" b="1">
                <a:solidFill>
                  <a:srgbClr val="0C343D"/>
                </a:solidFill>
                <a:latin typeface="Lato"/>
              </a:rPr>
              <a:t>2)</a:t>
            </a:r>
            <a:r>
              <a:rPr lang="en-SG" sz="1800">
                <a:solidFill>
                  <a:srgbClr val="0C343D"/>
                </a:solidFill>
                <a:latin typeface="Lato"/>
              </a:rPr>
              <a:t>   </a:t>
            </a:r>
            <a:r>
              <a:rPr lang="en-SG" sz="1800" b="1" u="sng">
                <a:solidFill>
                  <a:srgbClr val="0C343D"/>
                </a:solidFill>
                <a:latin typeface="Lato"/>
              </a:rPr>
              <a:t>requirements.txt</a:t>
            </a:r>
            <a:endParaRPr lang="en-US" sz="1800">
              <a:solidFill>
                <a:srgbClr val="0C343D"/>
              </a:solidFill>
              <a:latin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SG" sz="1800">
                <a:solidFill>
                  <a:srgbClr val="0C343D"/>
                </a:solidFill>
              </a:rPr>
              <a:t>Minimal stack for a production-grade ML inference API: </a:t>
            </a:r>
            <a:r>
              <a:rPr lang="en-SG" sz="1800" err="1">
                <a:solidFill>
                  <a:srgbClr val="0C343D"/>
                </a:solidFill>
              </a:rPr>
              <a:t>FastAPI</a:t>
            </a:r>
            <a:r>
              <a:rPr lang="en-SG" sz="1800">
                <a:solidFill>
                  <a:srgbClr val="0C343D"/>
                </a:solidFill>
              </a:rPr>
              <a:t> + </a:t>
            </a:r>
            <a:r>
              <a:rPr lang="en-SG" sz="1800" err="1">
                <a:solidFill>
                  <a:srgbClr val="0C343D"/>
                </a:solidFill>
              </a:rPr>
              <a:t>Uvicorn</a:t>
            </a:r>
            <a:r>
              <a:rPr lang="en-SG" sz="1800">
                <a:solidFill>
                  <a:srgbClr val="0C343D"/>
                </a:solidFill>
              </a:rPr>
              <a:t> for serving; Pandas/</a:t>
            </a:r>
            <a:r>
              <a:rPr lang="en-SG" sz="1800" err="1">
                <a:solidFill>
                  <a:srgbClr val="0C343D"/>
                </a:solidFill>
              </a:rPr>
              <a:t>Numpy</a:t>
            </a:r>
            <a:r>
              <a:rPr lang="en-SG" sz="1800">
                <a:solidFill>
                  <a:srgbClr val="0C343D"/>
                </a:solidFill>
              </a:rPr>
              <a:t> for data; scikit-learn/</a:t>
            </a:r>
            <a:r>
              <a:rPr lang="en-SG" sz="1800" err="1">
                <a:solidFill>
                  <a:srgbClr val="0C343D"/>
                </a:solidFill>
              </a:rPr>
              <a:t>XGBoost</a:t>
            </a:r>
            <a:r>
              <a:rPr lang="en-SG" sz="1800">
                <a:solidFill>
                  <a:srgbClr val="0C343D"/>
                </a:solidFill>
              </a:rPr>
              <a:t> for model + </a:t>
            </a:r>
            <a:r>
              <a:rPr lang="en-SG" sz="1800" err="1">
                <a:solidFill>
                  <a:srgbClr val="0C343D"/>
                </a:solidFill>
              </a:rPr>
              <a:t>proba</a:t>
            </a:r>
            <a:r>
              <a:rPr lang="en-SG" sz="1800">
                <a:solidFill>
                  <a:srgbClr val="0C343D"/>
                </a:solidFill>
              </a:rPr>
              <a:t> support; </a:t>
            </a:r>
            <a:r>
              <a:rPr lang="en-SG" sz="1800" err="1">
                <a:solidFill>
                  <a:srgbClr val="0C343D"/>
                </a:solidFill>
              </a:rPr>
              <a:t>Joblib</a:t>
            </a:r>
            <a:r>
              <a:rPr lang="en-SG" sz="1800">
                <a:solidFill>
                  <a:srgbClr val="0C343D"/>
                </a:solidFill>
              </a:rPr>
              <a:t> for loading; </a:t>
            </a:r>
            <a:r>
              <a:rPr lang="en-SG" sz="1800" err="1">
                <a:solidFill>
                  <a:srgbClr val="0C343D"/>
                </a:solidFill>
              </a:rPr>
              <a:t>Pydantic</a:t>
            </a:r>
            <a:r>
              <a:rPr lang="en-SG" sz="1800">
                <a:solidFill>
                  <a:srgbClr val="0C343D"/>
                </a:solidFill>
              </a:rPr>
              <a:t> for robust request/response validation.</a:t>
            </a:r>
            <a:endParaRPr lang="en-SG" sz="1800">
              <a:solidFill>
                <a:srgbClr val="0C343D"/>
              </a:solidFill>
              <a:latin typeface="Lato"/>
            </a:endParaRPr>
          </a:p>
          <a:p>
            <a:r>
              <a:rPr lang="en-SG" sz="1800" b="1">
                <a:solidFill>
                  <a:srgbClr val="0C343D"/>
                </a:solidFill>
                <a:latin typeface="Lato"/>
              </a:rPr>
              <a:t>3)   </a:t>
            </a:r>
            <a:r>
              <a:rPr lang="en-SG" sz="1800" b="1" err="1">
                <a:solidFill>
                  <a:srgbClr val="0C343D"/>
                </a:solidFill>
                <a:latin typeface="Lato"/>
              </a:rPr>
              <a:t>Dockerfile</a:t>
            </a:r>
            <a:endParaRPr lang="en-SG" sz="1800" b="1" u="sng">
              <a:solidFill>
                <a:srgbClr val="0C343D"/>
              </a:solidFill>
              <a:latin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SG" sz="1800">
                <a:solidFill>
                  <a:srgbClr val="0C343D"/>
                </a:solidFill>
              </a:rPr>
              <a:t>Containerizes the API: installs Python deps, copies code, exposes port 8000, and starts </a:t>
            </a:r>
            <a:r>
              <a:rPr lang="en-SG" sz="1800" err="1">
                <a:solidFill>
                  <a:srgbClr val="0C343D"/>
                </a:solidFill>
              </a:rPr>
              <a:t>Uvicorn</a:t>
            </a:r>
            <a:r>
              <a:rPr lang="en-SG" sz="1800">
                <a:solidFill>
                  <a:srgbClr val="0C343D"/>
                </a:solidFill>
              </a:rPr>
              <a:t>. The image is what the Kubernetes Deployment scales/updates.</a:t>
            </a:r>
          </a:p>
        </p:txBody>
      </p:sp>
    </p:spTree>
    <p:extLst>
      <p:ext uri="{BB962C8B-B14F-4D97-AF65-F5344CB8AC3E}">
        <p14:creationId xmlns:p14="http://schemas.microsoft.com/office/powerpoint/2010/main" val="7890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4AC0-995E-BC15-BDDA-AE27573D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5772656D-B2DE-9CD1-FF11-106A6B3DFE57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/>
                <a:cs typeface="Sora"/>
              </a:rPr>
              <a:t>Kubernetes (Files)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52206-33FA-8C8D-9404-6ECA9EC6A007}"/>
              </a:ext>
            </a:extLst>
          </p:cNvPr>
          <p:cNvSpPr txBox="1"/>
          <p:nvPr/>
        </p:nvSpPr>
        <p:spPr>
          <a:xfrm>
            <a:off x="796502" y="1071339"/>
            <a:ext cx="7060341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1250" b="1" u="sng">
                <a:solidFill>
                  <a:srgbClr val="0C343D"/>
                </a:solidFill>
                <a:latin typeface="Lato"/>
              </a:rPr>
              <a:t>1) </a:t>
            </a:r>
            <a:r>
              <a:rPr lang="en-SG" sz="1250" b="1" u="sng" err="1">
                <a:solidFill>
                  <a:srgbClr val="0C343D"/>
                </a:solidFill>
                <a:latin typeface="Lato"/>
              </a:rPr>
              <a:t>deployment.yaml</a:t>
            </a:r>
            <a:endParaRPr lang="en-US" sz="1250">
              <a:solidFill>
                <a:srgbClr val="0C343D"/>
              </a:solidFill>
              <a:latin typeface="Lato"/>
            </a:endParaRPr>
          </a:p>
          <a:p>
            <a:pPr marL="285750" indent="-285750">
              <a:buChar char="•"/>
            </a:pPr>
            <a:r>
              <a:rPr lang="en-US" sz="1250">
                <a:solidFill>
                  <a:srgbClr val="0C343D"/>
                </a:solidFill>
                <a:latin typeface="Lato"/>
              </a:rPr>
              <a:t>​Defines how to run the app (docker image, pods, mounted volume, environment variables)</a:t>
            </a:r>
          </a:p>
          <a:p>
            <a:r>
              <a:rPr lang="en-SG" sz="1250" b="1">
                <a:solidFill>
                  <a:srgbClr val="0C343D"/>
                </a:solidFill>
                <a:latin typeface="Lato"/>
              </a:rPr>
              <a:t>2)</a:t>
            </a:r>
            <a:r>
              <a:rPr lang="en-SG" sz="1250">
                <a:solidFill>
                  <a:srgbClr val="0C343D"/>
                </a:solidFill>
                <a:latin typeface="Lato"/>
              </a:rPr>
              <a:t> </a:t>
            </a:r>
            <a:r>
              <a:rPr lang="en-SG" sz="1250" b="1" u="sng" err="1">
                <a:solidFill>
                  <a:srgbClr val="0C343D"/>
                </a:solidFill>
                <a:latin typeface="Lato"/>
              </a:rPr>
              <a:t>hpa.yaml</a:t>
            </a:r>
            <a:r>
              <a:rPr lang="en-US" sz="1250">
                <a:solidFill>
                  <a:srgbClr val="0C343D"/>
                </a:solidFill>
                <a:latin typeface="Lato"/>
              </a:rPr>
              <a:t>​</a:t>
            </a:r>
          </a:p>
          <a:p>
            <a:pPr marL="285750" indent="-285750">
              <a:buChar char="•"/>
            </a:pPr>
            <a:r>
              <a:rPr lang="en-SG" sz="1250">
                <a:solidFill>
                  <a:srgbClr val="0C343D"/>
                </a:solidFill>
              </a:rPr>
              <a:t>Auto-scales the Deployment between </a:t>
            </a:r>
            <a:r>
              <a:rPr lang="en-SG" sz="1250" b="1">
                <a:solidFill>
                  <a:srgbClr val="0C343D"/>
                </a:solidFill>
              </a:rPr>
              <a:t>2 and 6 replicas</a:t>
            </a:r>
            <a:r>
              <a:rPr lang="en-SG" sz="1250">
                <a:solidFill>
                  <a:srgbClr val="0C343D"/>
                </a:solidFill>
              </a:rPr>
              <a:t> to keep average CPU near </a:t>
            </a:r>
            <a:r>
              <a:rPr lang="en-SG" sz="1250" b="1">
                <a:solidFill>
                  <a:srgbClr val="0C343D"/>
                </a:solidFill>
              </a:rPr>
              <a:t>70%</a:t>
            </a:r>
            <a:r>
              <a:rPr lang="en-SG" sz="1250">
                <a:solidFill>
                  <a:srgbClr val="0C343D"/>
                </a:solidFill>
              </a:rPr>
              <a:t>. This is your app’s </a:t>
            </a:r>
            <a:r>
              <a:rPr lang="en-SG" sz="1250" b="1">
                <a:solidFill>
                  <a:srgbClr val="0C343D"/>
                </a:solidFill>
              </a:rPr>
              <a:t>horizontal scaling policy</a:t>
            </a:r>
            <a:r>
              <a:rPr lang="en-SG" sz="1250">
                <a:solidFill>
                  <a:srgbClr val="0C343D"/>
                </a:solidFill>
              </a:rPr>
              <a:t>.</a:t>
            </a:r>
            <a:endParaRPr lang="en-SG" sz="1250">
              <a:solidFill>
                <a:srgbClr val="0C343D"/>
              </a:solidFill>
              <a:latin typeface="Lato"/>
            </a:endParaRPr>
          </a:p>
          <a:p>
            <a:r>
              <a:rPr lang="en-SG" sz="1250" b="1">
                <a:solidFill>
                  <a:srgbClr val="0C343D"/>
                </a:solidFill>
                <a:latin typeface="Lato"/>
              </a:rPr>
              <a:t>3) </a:t>
            </a:r>
            <a:r>
              <a:rPr lang="en-SG" sz="1250" b="1" u="sng" err="1">
                <a:solidFill>
                  <a:srgbClr val="0C343D"/>
                </a:solidFill>
                <a:latin typeface="Lato"/>
              </a:rPr>
              <a:t>networkpolicy.yaml</a:t>
            </a:r>
            <a:r>
              <a:rPr lang="en-US" sz="1250">
                <a:solidFill>
                  <a:srgbClr val="0C343D"/>
                </a:solidFill>
                <a:latin typeface="Lato"/>
              </a:rPr>
              <a:t>​</a:t>
            </a:r>
          </a:p>
          <a:p>
            <a:pPr marL="285750" indent="-285750">
              <a:buChar char="•"/>
            </a:pPr>
            <a:r>
              <a:rPr lang="en-SG" sz="1250">
                <a:solidFill>
                  <a:srgbClr val="0C343D"/>
                </a:solidFill>
              </a:rPr>
              <a:t>Controls </a:t>
            </a:r>
            <a:r>
              <a:rPr lang="en-SG" sz="1250" b="1">
                <a:solidFill>
                  <a:srgbClr val="0C343D"/>
                </a:solidFill>
              </a:rPr>
              <a:t>which pods are allowed to communicate</a:t>
            </a:r>
            <a:r>
              <a:rPr lang="en-SG" sz="1250">
                <a:solidFill>
                  <a:srgbClr val="0C343D"/>
                </a:solidFill>
              </a:rPr>
              <a:t> with yours</a:t>
            </a:r>
          </a:p>
          <a:p>
            <a:pPr marL="285750" indent="-285750">
              <a:buChar char="•"/>
            </a:pPr>
            <a:r>
              <a:rPr lang="en-SG" sz="1250">
                <a:solidFill>
                  <a:srgbClr val="0C343D"/>
                </a:solidFill>
              </a:rPr>
              <a:t>Only allows inbound traffic from UI and outbound to DNS</a:t>
            </a:r>
          </a:p>
          <a:p>
            <a:r>
              <a:rPr lang="en-SG" sz="1250" b="1">
                <a:solidFill>
                  <a:srgbClr val="0C343D"/>
                </a:solidFill>
                <a:latin typeface="Lato"/>
              </a:rPr>
              <a:t>4) </a:t>
            </a:r>
            <a:r>
              <a:rPr lang="en-SG" sz="1250" b="1" u="sng" err="1">
                <a:solidFill>
                  <a:srgbClr val="0C343D"/>
                </a:solidFill>
                <a:latin typeface="Lato"/>
              </a:rPr>
              <a:t>pdb.yaml</a:t>
            </a:r>
            <a:r>
              <a:rPr lang="en-US" sz="1250">
                <a:solidFill>
                  <a:srgbClr val="0C343D"/>
                </a:solidFill>
                <a:latin typeface="Lato"/>
              </a:rPr>
              <a:t>​</a:t>
            </a:r>
            <a:endParaRPr lang="en-US"/>
          </a:p>
          <a:p>
            <a:pPr marL="285750" indent="-285750">
              <a:buChar char="•"/>
            </a:pPr>
            <a:r>
              <a:rPr lang="en-US" sz="1250">
                <a:solidFill>
                  <a:srgbClr val="0C343D"/>
                </a:solidFill>
              </a:rPr>
              <a:t>Ensures at least </a:t>
            </a:r>
            <a:r>
              <a:rPr lang="en-US" sz="1250" b="1">
                <a:solidFill>
                  <a:srgbClr val="0C343D"/>
                </a:solidFill>
              </a:rPr>
              <a:t>1 pod stays alive</a:t>
            </a:r>
            <a:r>
              <a:rPr lang="en-US" sz="1250">
                <a:solidFill>
                  <a:srgbClr val="0C343D"/>
                </a:solidFill>
              </a:rPr>
              <a:t> during maintenance or scaling</a:t>
            </a:r>
          </a:p>
          <a:p>
            <a:pPr marL="285750" indent="-285750">
              <a:buChar char="•"/>
            </a:pPr>
            <a:r>
              <a:rPr lang="en-US" sz="1250">
                <a:solidFill>
                  <a:srgbClr val="0C343D"/>
                </a:solidFill>
              </a:rPr>
              <a:t>Prevents all pods from being killed at once</a:t>
            </a:r>
          </a:p>
          <a:p>
            <a:r>
              <a:rPr lang="en-SG" sz="1250">
                <a:solidFill>
                  <a:srgbClr val="0C343D"/>
                </a:solidFill>
                <a:latin typeface="Lato"/>
              </a:rPr>
              <a:t>5) </a:t>
            </a:r>
            <a:r>
              <a:rPr lang="en-SG" sz="1250" b="1" u="sng" err="1">
                <a:solidFill>
                  <a:srgbClr val="0C343D"/>
                </a:solidFill>
                <a:latin typeface="Lato"/>
              </a:rPr>
              <a:t>service.yaml</a:t>
            </a:r>
            <a:r>
              <a:rPr lang="en-US" sz="1250">
                <a:solidFill>
                  <a:srgbClr val="0C343D"/>
                </a:solidFill>
                <a:latin typeface="Lato"/>
              </a:rPr>
              <a:t>​</a:t>
            </a:r>
          </a:p>
          <a:p>
            <a:pPr marL="285750" indent="-285750">
              <a:buChar char="•"/>
            </a:pPr>
            <a:r>
              <a:rPr lang="en-SG" sz="1300">
                <a:solidFill>
                  <a:srgbClr val="0C343D"/>
                </a:solidFill>
              </a:rPr>
              <a:t>Exposes pods internally using a stable name (Type: </a:t>
            </a:r>
            <a:r>
              <a:rPr lang="en-SG" sz="1300" err="1">
                <a:solidFill>
                  <a:srgbClr val="0C343D"/>
                </a:solidFill>
              </a:rPr>
              <a:t>ClusterIP</a:t>
            </a:r>
            <a:r>
              <a:rPr lang="en-SG" sz="1300">
                <a:solidFill>
                  <a:srgbClr val="0C343D"/>
                </a:solidFill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SG" sz="1300">
                <a:solidFill>
                  <a:srgbClr val="0C343D"/>
                </a:solidFill>
              </a:rPr>
              <a:t>"POST http://data-preprocessing-svc:8000/preprocess"</a:t>
            </a:r>
          </a:p>
          <a:p>
            <a:pPr marL="742950" lvl="1" indent="-285750">
              <a:buFont typeface="Arial,Sans-Serif"/>
              <a:buChar char="•"/>
            </a:pPr>
            <a:endParaRPr lang="en-SG" sz="1300">
              <a:solidFill>
                <a:srgbClr val="0C34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07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9881-CCD7-B646-42BE-8DB7C62A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38">
            <a:extLst>
              <a:ext uri="{FF2B5EF4-FFF2-40B4-BE49-F238E27FC236}">
                <a16:creationId xmlns:a16="http://schemas.microsoft.com/office/drawing/2014/main" id="{A43ED7E1-FE07-1E6C-CD1B-C77F7098CC14}"/>
              </a:ext>
            </a:extLst>
          </p:cNvPr>
          <p:cNvSpPr txBox="1">
            <a:spLocks/>
          </p:cNvSpPr>
          <p:nvPr/>
        </p:nvSpPr>
        <p:spPr>
          <a:xfrm>
            <a:off x="1256995" y="1004058"/>
            <a:ext cx="6630010" cy="3135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AC7C1783-A52C-60FA-3588-1CBBE16DEACB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/>
                <a:cs typeface="Sora"/>
              </a:rPr>
              <a:t>Kubernetes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126D7-6877-4F23-9713-B35E01C4BF76}"/>
              </a:ext>
            </a:extLst>
          </p:cNvPr>
          <p:cNvSpPr txBox="1"/>
          <p:nvPr/>
        </p:nvSpPr>
        <p:spPr>
          <a:xfrm>
            <a:off x="569300" y="745266"/>
            <a:ext cx="8353189" cy="4140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1224F4C0-7BF8-C30F-96FD-B4E644AFE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92160"/>
            <a:ext cx="8345466" cy="168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763BC-B085-0D77-8863-4C6A3B4E2B3E}"/>
              </a:ext>
            </a:extLst>
          </p:cNvPr>
          <p:cNvSpPr txBox="1"/>
          <p:nvPr/>
        </p:nvSpPr>
        <p:spPr>
          <a:xfrm>
            <a:off x="2160453" y="3146033"/>
            <a:ext cx="433244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Testing &amp; Observability: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exposes the </a:t>
            </a:r>
            <a:r>
              <a:rPr lang="en-US" b="1"/>
              <a:t>UI service</a:t>
            </a:r>
            <a:r>
              <a:rPr lang="en-US"/>
              <a:t> to your </a:t>
            </a:r>
            <a:r>
              <a:rPr lang="en-US" b="1"/>
              <a:t>local machine</a:t>
            </a:r>
            <a:r>
              <a:rPr lang="en-US"/>
              <a:t> using a temporary tunnel</a:t>
            </a:r>
          </a:p>
          <a:p>
            <a:endParaRPr lang="en-US"/>
          </a:p>
          <a:p>
            <a:r>
              <a:rPr lang="en-US"/>
              <a:t>"</a:t>
            </a:r>
            <a:r>
              <a:rPr lang="en-US" err="1"/>
              <a:t>kubectl</a:t>
            </a:r>
            <a:r>
              <a:rPr lang="en-US"/>
              <a:t> -n hospital-ml port-forward svc/</a:t>
            </a:r>
            <a:r>
              <a:rPr lang="en-US" err="1"/>
              <a:t>ui</a:t>
            </a:r>
            <a:r>
              <a:rPr lang="en-US"/>
              <a:t> 8501:80"</a:t>
            </a:r>
          </a:p>
        </p:txBody>
      </p:sp>
    </p:spTree>
    <p:extLst>
      <p:ext uri="{BB962C8B-B14F-4D97-AF65-F5344CB8AC3E}">
        <p14:creationId xmlns:p14="http://schemas.microsoft.com/office/powerpoint/2010/main" val="266038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813EEB4A-CB94-F3EB-720F-511781D9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2BA8463B-E7A6-0B86-A6A0-E06D90432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5883" y="1974433"/>
            <a:ext cx="3949481" cy="1453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GB" sz="4000" dirty="0"/>
              <a:t>Additional Features</a:t>
            </a:r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C7345128-42F6-2D0B-03A5-9BA6F0D31D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D2DA9072-B6F2-3676-64A2-C76973758CD4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AFD89A7F-3155-FCE1-5B3B-A0E62C2811A2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83878CD2-504C-C6DC-4CC1-E0FA8BDFD8E0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4A01BBB4-89D2-F032-28BD-578586BA3DC4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8D394F48-AC54-C800-F96C-11EC12279183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4E327F1B-0BA5-8CFC-D705-3A80F01F61C3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7C6226C9-AEFC-3EFF-69DC-DC73005D5AFA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D4545579-A3F3-71B7-672E-DF47C41BA99E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857B6492-3BE2-FE55-3AD5-5E43568EC849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5CD0A57B-DBB9-D36B-6020-007F6F3FED23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99DA84C2-EA75-F417-64B1-795C9FD67157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521FF1FF-E99F-10A1-62D5-18BA929C6883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FE1644AE-A880-A004-3D8C-1D9166B59232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ECA55728-5D2E-238B-DA82-D7D780987B60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EA5CDE46-00B8-A160-146B-526F7229C0B1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BD35933D-27FC-9FCC-C92E-106E5200C48A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E8CF8076-5C97-68DB-7BD2-D81B9350BF85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0CEAB212-580B-0E40-884D-82026C874997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D200757F-393D-34EC-E90C-A0EE53FA062E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4AEE653A-8E33-78A3-3DEB-BC6E7DCF0064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4831E885-E929-CA06-1D12-2DD01FD82416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B132295E-B196-8B39-C88B-8D1AA9099F4A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610A3103-5F8C-B59A-5E2F-8B36C02E217B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9142E174-9BBB-8CC8-7EE9-473F7EC8EEFF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56EAAF55-1670-43AD-1CD0-7E8CD1FE1DF6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9F97B81E-22B5-EF36-CF1F-4AB931B85C49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9844F422-3A47-FC9B-E1DE-EA03C7EBA8EE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6864B153-6568-807B-5821-CE1066A91144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409DAF79-C448-E90E-7E0F-7162014923B5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178DAAA7-E5F8-4194-A4B1-F5DD427CB220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13F9E646-F8CA-1980-3B07-0D5DCF34D337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03098040-8689-A2CB-904B-6700746DA61C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338048DF-3981-913D-EF8C-83FF6C97782E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CF3F96DA-3FF9-9753-34F7-9C68E456D04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53F515D1-8D2C-C4D6-C7BE-803E0D000B46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277483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DE360-1D0A-4872-4515-63821160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4BC26181-324C-B8B4-B75D-F1AEC8EEE661}"/>
              </a:ext>
            </a:extLst>
          </p:cNvPr>
          <p:cNvSpPr txBox="1">
            <a:spLocks/>
          </p:cNvSpPr>
          <p:nvPr/>
        </p:nvSpPr>
        <p:spPr>
          <a:xfrm>
            <a:off x="463243" y="-1166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 UI – Blue/Green Deployment</a:t>
            </a:r>
          </a:p>
        </p:txBody>
      </p:sp>
      <p:sp>
        <p:nvSpPr>
          <p:cNvPr id="2" name="Google Shape;526;p38">
            <a:extLst>
              <a:ext uri="{FF2B5EF4-FFF2-40B4-BE49-F238E27FC236}">
                <a16:creationId xmlns:a16="http://schemas.microsoft.com/office/drawing/2014/main" id="{8C63F65E-3034-B136-E396-0EEE77CEDAD5}"/>
              </a:ext>
            </a:extLst>
          </p:cNvPr>
          <p:cNvSpPr txBox="1">
            <a:spLocks/>
          </p:cNvSpPr>
          <p:nvPr/>
        </p:nvSpPr>
        <p:spPr>
          <a:xfrm>
            <a:off x="498138" y="371915"/>
            <a:ext cx="2659313" cy="2091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 2 versions of the same service at once.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Ui-blue: current live version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Ui-green: new version we want to roll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Benefits: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Zero downtime rollouts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Instant rollback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SG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D156F0-39D9-B08E-F616-7BEC2D09160B}"/>
              </a:ext>
            </a:extLst>
          </p:cNvPr>
          <p:cNvGrpSpPr/>
          <p:nvPr/>
        </p:nvGrpSpPr>
        <p:grpSpPr>
          <a:xfrm>
            <a:off x="558801" y="3144388"/>
            <a:ext cx="3496884" cy="1943608"/>
            <a:chOff x="3483205" y="2096569"/>
            <a:chExt cx="5660795" cy="29586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FA7DBB-AAD8-4149-9132-E0968DD5D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3205" y="2096569"/>
              <a:ext cx="5660795" cy="276586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FF6A7D-04B5-3A28-484A-4A366B92C5CF}"/>
                </a:ext>
              </a:extLst>
            </p:cNvPr>
            <p:cNvSpPr txBox="1"/>
            <p:nvPr/>
          </p:nvSpPr>
          <p:spPr>
            <a:xfrm>
              <a:off x="4685960" y="4793641"/>
              <a:ext cx="324570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i="1" dirty="0"/>
                <a:t>Cronjob-</a:t>
              </a:r>
              <a:r>
                <a:rPr lang="en-GB" sz="1100" i="1" dirty="0" err="1"/>
                <a:t>backup.yaml</a:t>
              </a:r>
              <a:endParaRPr lang="en-GB" sz="1100" i="1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91C6926-8A31-C3FB-D899-61F5C9CE3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346" y="463303"/>
            <a:ext cx="2946887" cy="2443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FBF39-F4E6-0E22-E786-7CD981646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113" y="456075"/>
            <a:ext cx="2946887" cy="24576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62A357-6F89-CCD0-0584-50518A52431A}"/>
              </a:ext>
            </a:extLst>
          </p:cNvPr>
          <p:cNvSpPr txBox="1"/>
          <p:nvPr/>
        </p:nvSpPr>
        <p:spPr>
          <a:xfrm>
            <a:off x="3556991" y="2882778"/>
            <a:ext cx="2030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ui</a:t>
            </a:r>
            <a:r>
              <a:rPr lang="en-GB" sz="1100" i="1" dirty="0"/>
              <a:t>-blue/</a:t>
            </a:r>
            <a:r>
              <a:rPr lang="en-GB" sz="1100" i="1" dirty="0" err="1"/>
              <a:t>deployment.yaml</a:t>
            </a:r>
            <a:endParaRPr lang="en-GB" sz="11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CBBAB-182D-35B4-7CC7-17B5F62206BA}"/>
              </a:ext>
            </a:extLst>
          </p:cNvPr>
          <p:cNvSpPr txBox="1"/>
          <p:nvPr/>
        </p:nvSpPr>
        <p:spPr>
          <a:xfrm>
            <a:off x="6655547" y="2868038"/>
            <a:ext cx="2030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ui</a:t>
            </a:r>
            <a:r>
              <a:rPr lang="en-GB" sz="1100" i="1" dirty="0"/>
              <a:t>-green/</a:t>
            </a:r>
            <a:r>
              <a:rPr lang="en-GB" sz="1100" i="1" dirty="0" err="1"/>
              <a:t>deployment.yaml</a:t>
            </a:r>
            <a:endParaRPr lang="en-GB" sz="11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807C2A-A485-9F7A-51FA-5FFCCD34F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789" y="3195535"/>
            <a:ext cx="3548723" cy="17796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39FC4C-8650-DD47-5C05-ECA20E03BE36}"/>
              </a:ext>
            </a:extLst>
          </p:cNvPr>
          <p:cNvSpPr txBox="1"/>
          <p:nvPr/>
        </p:nvSpPr>
        <p:spPr>
          <a:xfrm>
            <a:off x="5363243" y="4928719"/>
            <a:ext cx="2153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/>
              <a:t>Bluegreen-</a:t>
            </a:r>
            <a:r>
              <a:rPr lang="en-GB" sz="1100" i="1" dirty="0" err="1"/>
              <a:t>setup.bash</a:t>
            </a:r>
            <a:endParaRPr lang="en-GB" sz="1100" i="1" dirty="0"/>
          </a:p>
        </p:txBody>
      </p:sp>
    </p:spTree>
    <p:extLst>
      <p:ext uri="{BB962C8B-B14F-4D97-AF65-F5344CB8AC3E}">
        <p14:creationId xmlns:p14="http://schemas.microsoft.com/office/powerpoint/2010/main" val="218082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70CB-39B1-B94A-6AE1-7658D9A9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90F9E60E-0A6A-2E8C-AE51-9AE6CD18B101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 err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CronJob</a:t>
            </a:r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(Additional Feature)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970F6-DDE4-5C83-4267-F3BBE22C8B43}"/>
              </a:ext>
            </a:extLst>
          </p:cNvPr>
          <p:cNvSpPr txBox="1"/>
          <p:nvPr/>
        </p:nvSpPr>
        <p:spPr>
          <a:xfrm>
            <a:off x="474673" y="705491"/>
            <a:ext cx="37029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Automated Backups(Nightly Backups)</a:t>
            </a:r>
            <a:r>
              <a:rPr lang="en-SG" dirty="0"/>
              <a:t>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dirty="0"/>
              <a:t>This is a Kubernetes </a:t>
            </a:r>
            <a:r>
              <a:rPr lang="en-SG" b="1" dirty="0" err="1"/>
              <a:t>CronJob</a:t>
            </a:r>
            <a:r>
              <a:rPr lang="en-SG" dirty="0"/>
              <a:t> that runs automatically on a schedule.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Nightly Schedule</a:t>
            </a:r>
            <a:r>
              <a:rPr lang="en-SG" dirty="0"/>
              <a:t>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dirty="0"/>
              <a:t>The job is scheduled to run every night at </a:t>
            </a:r>
            <a:r>
              <a:rPr lang="en-SG" b="1" dirty="0"/>
              <a:t>2 AM</a:t>
            </a:r>
            <a:r>
              <a:rPr lang="en-SG" dirty="0"/>
              <a:t>, ensuring your data is always backed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What It Backs Up</a:t>
            </a:r>
            <a:r>
              <a:rPr lang="en-SG" dirty="0"/>
              <a:t>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dirty="0"/>
              <a:t>It specifically saves the most important assets: the trained </a:t>
            </a:r>
            <a:r>
              <a:rPr lang="en-SG" b="1" dirty="0"/>
              <a:t>models</a:t>
            </a:r>
            <a:r>
              <a:rPr lang="en-SG" dirty="0"/>
              <a:t> and the </a:t>
            </a:r>
            <a:r>
              <a:rPr lang="en-SG" b="1" dirty="0"/>
              <a:t>cleaned data</a:t>
            </a:r>
            <a:r>
              <a:rPr lang="en-SG" dirty="0"/>
              <a:t>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How It Works</a:t>
            </a:r>
            <a:r>
              <a:rPr lang="en-SG" dirty="0"/>
              <a:t>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dirty="0"/>
              <a:t>It uses a simple tar command to package these directories into a single compressed .</a:t>
            </a:r>
            <a:r>
              <a:rPr lang="en-SG" dirty="0" err="1"/>
              <a:t>tgz</a:t>
            </a:r>
            <a:r>
              <a:rPr lang="en-SG" dirty="0"/>
              <a:t> file, timestamped for easy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A3BB99-3048-D455-018E-3B9D6FF00C74}"/>
              </a:ext>
            </a:extLst>
          </p:cNvPr>
          <p:cNvGrpSpPr/>
          <p:nvPr/>
        </p:nvGrpSpPr>
        <p:grpSpPr>
          <a:xfrm>
            <a:off x="4312326" y="705490"/>
            <a:ext cx="4831674" cy="4438010"/>
            <a:chOff x="4272321" y="705490"/>
            <a:chExt cx="4397006" cy="3779965"/>
          </a:xfrm>
        </p:grpSpPr>
        <p:pic>
          <p:nvPicPr>
            <p:cNvPr id="6" name="Picture 5" descr="Screenshot of CronJob Yaml&#10;">
              <a:extLst>
                <a:ext uri="{FF2B5EF4-FFF2-40B4-BE49-F238E27FC236}">
                  <a16:creationId xmlns:a16="http://schemas.microsoft.com/office/drawing/2014/main" id="{C2E1DE77-AD49-418F-0B23-29F4F8067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2321" y="705490"/>
              <a:ext cx="4397006" cy="351835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ACA333C-281C-CF7D-7659-73251F990CCA}"/>
                </a:ext>
              </a:extLst>
            </p:cNvPr>
            <p:cNvSpPr txBox="1"/>
            <p:nvPr/>
          </p:nvSpPr>
          <p:spPr>
            <a:xfrm>
              <a:off x="4729608" y="4223845"/>
              <a:ext cx="32457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i="1" dirty="0"/>
                <a:t>Cronjob-</a:t>
              </a:r>
              <a:r>
                <a:rPr lang="en-GB" sz="1100" i="1" dirty="0" err="1"/>
                <a:t>backup.yaml</a:t>
              </a:r>
              <a:endParaRPr lang="en-GB" sz="11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0090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5356-55C7-2318-2A8A-3E89699E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01204266-56FD-3302-B719-DBFFB117DBBC}"/>
              </a:ext>
            </a:extLst>
          </p:cNvPr>
          <p:cNvSpPr txBox="1">
            <a:spLocks/>
          </p:cNvSpPr>
          <p:nvPr/>
        </p:nvSpPr>
        <p:spPr>
          <a:xfrm>
            <a:off x="559341" y="-21668"/>
            <a:ext cx="203146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 err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CronJob</a:t>
            </a:r>
            <a:endParaRPr lang="en-GB" sz="3000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63F808-494D-86B3-9CBB-5D3CDB9DFB95}"/>
              </a:ext>
            </a:extLst>
          </p:cNvPr>
          <p:cNvGrpSpPr/>
          <p:nvPr/>
        </p:nvGrpSpPr>
        <p:grpSpPr>
          <a:xfrm>
            <a:off x="4158080" y="132791"/>
            <a:ext cx="3245705" cy="5010709"/>
            <a:chOff x="6080014" y="0"/>
            <a:chExt cx="3245705" cy="5010709"/>
          </a:xfrm>
        </p:grpSpPr>
        <p:pic>
          <p:nvPicPr>
            <p:cNvPr id="8" name="Picture 7" descr="A screen shot of a computer program&#10;&#10;AI-generated content may be incorrect.">
              <a:extLst>
                <a:ext uri="{FF2B5EF4-FFF2-40B4-BE49-F238E27FC236}">
                  <a16:creationId xmlns:a16="http://schemas.microsoft.com/office/drawing/2014/main" id="{71B7F2B4-1494-8F98-2AD2-0603636C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1736" y="0"/>
              <a:ext cx="2882263" cy="472743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E2B45C-A355-225E-CA03-DE8A5E5A6A80}"/>
                </a:ext>
              </a:extLst>
            </p:cNvPr>
            <p:cNvSpPr txBox="1"/>
            <p:nvPr/>
          </p:nvSpPr>
          <p:spPr>
            <a:xfrm>
              <a:off x="6080014" y="4749099"/>
              <a:ext cx="32457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i="1" dirty="0"/>
                <a:t>Backup-</a:t>
              </a:r>
              <a:r>
                <a:rPr lang="en-GB" sz="1100" i="1" dirty="0" err="1"/>
                <a:t>tools.yaml</a:t>
              </a:r>
              <a:endParaRPr lang="en-GB" sz="1100" i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0FFCBFD-1340-61EB-90C0-AE3784FF7855}"/>
              </a:ext>
            </a:extLst>
          </p:cNvPr>
          <p:cNvSpPr txBox="1"/>
          <p:nvPr/>
        </p:nvSpPr>
        <p:spPr>
          <a:xfrm>
            <a:off x="626534" y="705491"/>
            <a:ext cx="37761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Purpose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Provides tools to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and manage backups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inside Kubernetes.</a:t>
            </a:r>
          </a:p>
          <a:p>
            <a:endParaRPr lang="en-S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it does (common tasks):</a:t>
            </a:r>
            <a:endParaRPr lang="en-S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Creates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on-demand backups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(manual trigger).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Supports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scheduled backups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(via </a:t>
            </a:r>
            <a:r>
              <a:rPr lang="en-SG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CronJobs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Stores backups in a consistent format for later restore.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Helps with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safety &amp; disaster recovery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endParaRPr lang="en-S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it’s useful:</a:t>
            </a:r>
            <a:endParaRPr lang="en-S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Protects against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loss or corruption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Automates repetitive backup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Ensures you can </a:t>
            </a:r>
            <a:r>
              <a:rPr lang="en-SG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recover quickly</a:t>
            </a:r>
            <a:r>
              <a:rPr lang="en-S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case of failure.</a:t>
            </a:r>
          </a:p>
          <a:p>
            <a:endParaRPr lang="en-GB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95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5BAE0-BF0C-F077-3091-C5A6AA306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C95A1EE0-A203-9B23-BF55-847E681787CD}"/>
              </a:ext>
            </a:extLst>
          </p:cNvPr>
          <p:cNvSpPr txBox="1">
            <a:spLocks/>
          </p:cNvSpPr>
          <p:nvPr/>
        </p:nvSpPr>
        <p:spPr>
          <a:xfrm>
            <a:off x="474673" y="-89279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Network(Additional Feature)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E17CCA-BE7A-0905-46AA-B0266C71A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25" y="384572"/>
            <a:ext cx="3051870" cy="2308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039C1-0CCA-F8D1-760A-E774622A2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87" y="384572"/>
            <a:ext cx="3051871" cy="2300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EE3CF-3187-944D-65DC-F82179DB4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52" y="2999485"/>
            <a:ext cx="3606610" cy="1892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22928D-ED83-3200-5739-EBF87A89E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894" y="2999485"/>
            <a:ext cx="4958304" cy="18922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8D75F9-648C-3E41-A5B8-5C2FCBCAE02E}"/>
              </a:ext>
            </a:extLst>
          </p:cNvPr>
          <p:cNvSpPr txBox="1"/>
          <p:nvPr/>
        </p:nvSpPr>
        <p:spPr>
          <a:xfrm>
            <a:off x="462707" y="2692669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Networkpolicy</a:t>
            </a:r>
            <a:r>
              <a:rPr lang="en-GB" sz="1100" i="1" dirty="0"/>
              <a:t>-allow-</a:t>
            </a:r>
            <a:r>
              <a:rPr lang="en-GB" sz="1100" i="1" dirty="0" err="1"/>
              <a:t>dns.yaml</a:t>
            </a:r>
            <a:endParaRPr lang="en-GB" sz="11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62D38-BAD8-B0B6-E76E-12B894167DA3}"/>
              </a:ext>
            </a:extLst>
          </p:cNvPr>
          <p:cNvSpPr txBox="1"/>
          <p:nvPr/>
        </p:nvSpPr>
        <p:spPr>
          <a:xfrm>
            <a:off x="3696447" y="2666374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Networkpolicy</a:t>
            </a:r>
            <a:r>
              <a:rPr lang="en-GB" sz="1100" i="1" dirty="0"/>
              <a:t>-allow-ingress-to-</a:t>
            </a:r>
            <a:r>
              <a:rPr lang="en-GB" sz="1100" i="1" dirty="0" err="1"/>
              <a:t>ui.yaml</a:t>
            </a:r>
            <a:endParaRPr lang="en-GB" sz="11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A6D2C-D1E2-7F08-C0CE-2C7088A7B232}"/>
              </a:ext>
            </a:extLst>
          </p:cNvPr>
          <p:cNvSpPr txBox="1"/>
          <p:nvPr/>
        </p:nvSpPr>
        <p:spPr>
          <a:xfrm>
            <a:off x="568004" y="4868674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Networkpolicy</a:t>
            </a:r>
            <a:r>
              <a:rPr lang="en-GB" sz="1100" i="1" dirty="0"/>
              <a:t>-allow-</a:t>
            </a:r>
            <a:r>
              <a:rPr lang="en-GB" sz="1100" i="1" dirty="0" err="1"/>
              <a:t>ui</a:t>
            </a:r>
            <a:r>
              <a:rPr lang="en-GB" sz="1100" i="1" dirty="0"/>
              <a:t>-</a:t>
            </a:r>
            <a:r>
              <a:rPr lang="en-GB" sz="1100" i="1" dirty="0" err="1"/>
              <a:t>egress.yaml</a:t>
            </a:r>
            <a:endParaRPr lang="en-GB" sz="11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5E53F-4D7A-F734-0FA6-9B32CB34D453}"/>
              </a:ext>
            </a:extLst>
          </p:cNvPr>
          <p:cNvSpPr txBox="1"/>
          <p:nvPr/>
        </p:nvSpPr>
        <p:spPr>
          <a:xfrm>
            <a:off x="4940193" y="4862451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 err="1"/>
              <a:t>Networkpolicy</a:t>
            </a:r>
            <a:r>
              <a:rPr lang="en-GB" sz="1100" i="1" dirty="0"/>
              <a:t>-default-</a:t>
            </a:r>
            <a:r>
              <a:rPr lang="en-GB" sz="1100" i="1" dirty="0" err="1"/>
              <a:t>deny.yaml</a:t>
            </a:r>
            <a:endParaRPr lang="en-GB" sz="1100" i="1" dirty="0"/>
          </a:p>
        </p:txBody>
      </p:sp>
    </p:spTree>
    <p:extLst>
      <p:ext uri="{BB962C8B-B14F-4D97-AF65-F5344CB8AC3E}">
        <p14:creationId xmlns:p14="http://schemas.microsoft.com/office/powerpoint/2010/main" val="2643593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D07B6-5729-AC48-90F7-29A5170D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726D69E9-7D7E-5E3C-83A7-29C3D4D13714}"/>
              </a:ext>
            </a:extLst>
          </p:cNvPr>
          <p:cNvSpPr txBox="1">
            <a:spLocks/>
          </p:cNvSpPr>
          <p:nvPr/>
        </p:nvSpPr>
        <p:spPr>
          <a:xfrm>
            <a:off x="474673" y="-89279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Network(Additional Feature)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B7B4E0-D59B-E870-3139-C89F737AAE1A}"/>
              </a:ext>
            </a:extLst>
          </p:cNvPr>
          <p:cNvGrpSpPr/>
          <p:nvPr/>
        </p:nvGrpSpPr>
        <p:grpSpPr>
          <a:xfrm>
            <a:off x="3851910" y="661035"/>
            <a:ext cx="5148580" cy="3739515"/>
            <a:chOff x="3298190" y="661035"/>
            <a:chExt cx="5702300" cy="39573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EBC380-711C-0A95-8F70-6A97B1FDC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8190" y="661035"/>
              <a:ext cx="5702300" cy="36957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3BF2FA-AFCF-5B7F-8CC1-BEF2598D9C34}"/>
                </a:ext>
              </a:extLst>
            </p:cNvPr>
            <p:cNvSpPr txBox="1"/>
            <p:nvPr/>
          </p:nvSpPr>
          <p:spPr>
            <a:xfrm>
              <a:off x="4526487" y="4356735"/>
              <a:ext cx="32457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i="1" dirty="0" err="1"/>
                <a:t>Netpol-apply.sh</a:t>
              </a:r>
              <a:endParaRPr lang="en-GB" sz="1100" i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5FC3A57-454D-A64C-F743-194AE05CE1BC}"/>
              </a:ext>
            </a:extLst>
          </p:cNvPr>
          <p:cNvSpPr txBox="1"/>
          <p:nvPr/>
        </p:nvSpPr>
        <p:spPr>
          <a:xfrm>
            <a:off x="575733" y="661035"/>
            <a:ext cx="31157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Purpose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Automates the process of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applying Kubernetes </a:t>
            </a:r>
            <a:r>
              <a:rPr lang="en-SG" sz="12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NetworkPolicies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into a namespace for security.</a:t>
            </a:r>
          </a:p>
          <a:p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it does:</a:t>
            </a:r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Applies a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default-deny-all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rule (blocks all pod-to-pod traffic by default).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Then applies specific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allow rules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(DNS, UI-to-backend, ingress traffic,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Prints out the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effective policies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 you can verify what’s active.</a:t>
            </a:r>
          </a:p>
          <a:p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it’s useful:</a:t>
            </a:r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Enforces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zero-trust networking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(deny everything, allow only what’s needed).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Protects services from unauthorized pod-to-pod access.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Makes your cluster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secure and production-ready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endParaRPr lang="en-GB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49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51E3-327E-A62D-C217-3337314B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CCC52744-E85F-BDA0-BB77-02C3B57C7708}"/>
              </a:ext>
            </a:extLst>
          </p:cNvPr>
          <p:cNvSpPr txBox="1">
            <a:spLocks/>
          </p:cNvSpPr>
          <p:nvPr/>
        </p:nvSpPr>
        <p:spPr>
          <a:xfrm>
            <a:off x="474673" y="-89279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Rollout Control(Additional Feature)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6D07A-64C2-32E8-DEB8-84C196F1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437" y="483421"/>
            <a:ext cx="3235943" cy="4255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146AD-9751-37F4-A4A0-8549E8A31389}"/>
              </a:ext>
            </a:extLst>
          </p:cNvPr>
          <p:cNvSpPr txBox="1"/>
          <p:nvPr/>
        </p:nvSpPr>
        <p:spPr>
          <a:xfrm>
            <a:off x="4366675" y="4738514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/>
              <a:t>Rollout-</a:t>
            </a:r>
            <a:r>
              <a:rPr lang="en-GB" sz="1100" i="1" dirty="0" err="1"/>
              <a:t>ctl.sh</a:t>
            </a:r>
            <a:endParaRPr lang="en-GB" sz="11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9FD2EA-5C81-BA03-449E-A11F92426A39}"/>
              </a:ext>
            </a:extLst>
          </p:cNvPr>
          <p:cNvSpPr txBox="1"/>
          <p:nvPr/>
        </p:nvSpPr>
        <p:spPr>
          <a:xfrm>
            <a:off x="617220" y="657225"/>
            <a:ext cx="33775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Purpose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script is a helper tool to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 Kubernetes rollouts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(updates to deployments) without typing long </a:t>
            </a:r>
            <a:r>
              <a:rPr lang="en-SG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kubectl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commands.</a:t>
            </a:r>
          </a:p>
          <a:p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it does (common commands):</a:t>
            </a:r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status → Shows current rollout progress.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history → Displays past revisions of the deployment.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set-image → Updates the container image (new version).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pause / resume → Temporarily stop/resume a rollout.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undo → Roll back to a previous stable version.</a:t>
            </a:r>
          </a:p>
          <a:p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it’s useful:</a:t>
            </a:r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Simplifies rollout management into one-liners.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Helps in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 updates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with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easy rollback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Makes the project feel </a:t>
            </a:r>
            <a:r>
              <a:rPr lang="en-SG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production-ready</a:t>
            </a:r>
            <a:r>
              <a:rPr lang="en-SG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040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53D3-879D-006B-D35B-2AB8CEBC5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4A4511D3-8B90-F8B6-5A86-68925A222D38}"/>
              </a:ext>
            </a:extLst>
          </p:cNvPr>
          <p:cNvSpPr txBox="1">
            <a:spLocks/>
          </p:cNvSpPr>
          <p:nvPr/>
        </p:nvSpPr>
        <p:spPr>
          <a:xfrm>
            <a:off x="474673" y="-89279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All Additional Features in one .</a:t>
            </a:r>
            <a:r>
              <a:rPr lang="en-GB" sz="3000" b="1" dirty="0" err="1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sh</a:t>
            </a:r>
            <a:endParaRPr lang="en-GB" sz="3000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31888-FC39-116A-3ADF-8F475DFFB0BC}"/>
              </a:ext>
            </a:extLst>
          </p:cNvPr>
          <p:cNvSpPr txBox="1"/>
          <p:nvPr/>
        </p:nvSpPr>
        <p:spPr>
          <a:xfrm>
            <a:off x="4366675" y="4738514"/>
            <a:ext cx="3245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/>
              <a:t>Rollout-</a:t>
            </a:r>
            <a:r>
              <a:rPr lang="en-GB" sz="1100" i="1" dirty="0" err="1"/>
              <a:t>ctl.sh</a:t>
            </a:r>
            <a:endParaRPr lang="en-GB" sz="11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746AA-9E9C-23C8-BA41-ECB8F795F5C4}"/>
              </a:ext>
            </a:extLst>
          </p:cNvPr>
          <p:cNvSpPr txBox="1"/>
          <p:nvPr/>
        </p:nvSpPr>
        <p:spPr>
          <a:xfrm>
            <a:off x="617220" y="657225"/>
            <a:ext cx="33775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Purpose</a:t>
            </a:r>
            <a:r>
              <a:rPr lang="en-SG" sz="12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Acts as a </a:t>
            </a:r>
            <a:r>
              <a:rPr lang="en-SG" sz="1200" b="1" dirty="0"/>
              <a:t>companion script</a:t>
            </a:r>
            <a:r>
              <a:rPr lang="en-SG" sz="1200" dirty="0"/>
              <a:t> to the main automation, enabling advanced Kubernetes features.</a:t>
            </a:r>
          </a:p>
          <a:p>
            <a:endParaRPr lang="en-SG" sz="1200" dirty="0"/>
          </a:p>
          <a:p>
            <a:r>
              <a:rPr lang="en-SG" sz="1200" b="1" dirty="0"/>
              <a:t>What it does (common tasks):</a:t>
            </a: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Runs </a:t>
            </a:r>
            <a:r>
              <a:rPr lang="en-SG" sz="1200" b="1" dirty="0"/>
              <a:t>blue/green deployments</a:t>
            </a:r>
            <a:r>
              <a:rPr lang="en-SG" sz="1200" dirty="0"/>
              <a:t> for zero-downtime updates.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Provides </a:t>
            </a:r>
            <a:r>
              <a:rPr lang="en-SG" sz="1200" b="1" dirty="0"/>
              <a:t>rollout controls</a:t>
            </a:r>
            <a:r>
              <a:rPr lang="en-SG" sz="1200" dirty="0"/>
              <a:t> (status, history, pause/resume, rollback).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Applies </a:t>
            </a:r>
            <a:r>
              <a:rPr lang="en-SG" sz="1200" b="1" dirty="0"/>
              <a:t>network policies</a:t>
            </a:r>
            <a:r>
              <a:rPr lang="en-SG" sz="1200" dirty="0"/>
              <a:t> for pod security.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Triggers </a:t>
            </a:r>
            <a:r>
              <a:rPr lang="en-SG" sz="1200" b="1" dirty="0"/>
              <a:t>backup jobs</a:t>
            </a:r>
            <a:r>
              <a:rPr lang="en-SG" sz="1200" dirty="0"/>
              <a:t> (scheduled or on-demand).</a:t>
            </a:r>
          </a:p>
          <a:p>
            <a:endParaRPr lang="en-SG" sz="1200" dirty="0"/>
          </a:p>
          <a:p>
            <a:r>
              <a:rPr lang="en-SG" sz="1200" b="1" dirty="0"/>
              <a:t>Why it’s useful:</a:t>
            </a: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Keeps the </a:t>
            </a:r>
            <a:r>
              <a:rPr lang="en-SG" sz="1200" b="1" dirty="0"/>
              <a:t>base automation</a:t>
            </a:r>
            <a:r>
              <a:rPr lang="en-SG" sz="1200" dirty="0"/>
              <a:t> (</a:t>
            </a:r>
            <a:r>
              <a:rPr lang="en-SG" sz="1200" dirty="0" err="1"/>
              <a:t>automation.sh</a:t>
            </a:r>
            <a:r>
              <a:rPr lang="en-SG" sz="1200" dirty="0"/>
              <a:t>) clean and simple.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Lets you add </a:t>
            </a:r>
            <a:r>
              <a:rPr lang="en-SG" sz="1200" b="1" dirty="0"/>
              <a:t>production-grade extras</a:t>
            </a:r>
            <a:r>
              <a:rPr lang="en-SG" sz="1200" dirty="0"/>
              <a:t> only when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Separates </a:t>
            </a:r>
            <a:r>
              <a:rPr lang="en-SG" sz="1200" b="1" dirty="0"/>
              <a:t>core setup</a:t>
            </a:r>
            <a:r>
              <a:rPr lang="en-SG" sz="1200" dirty="0"/>
              <a:t> from </a:t>
            </a:r>
            <a:r>
              <a:rPr lang="en-SG" sz="1200" b="1" dirty="0"/>
              <a:t>advanced features</a:t>
            </a:r>
            <a:r>
              <a:rPr lang="en-SG" sz="1200" dirty="0"/>
              <a:t>, improving flexibility.</a:t>
            </a:r>
          </a:p>
          <a:p>
            <a:endParaRPr lang="en-SG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C6DA32-60D6-93BC-7D55-D5598E1AA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463" y="525289"/>
            <a:ext cx="4476337" cy="441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23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377CD9B-C6BD-0AF5-AD4B-7610E6B95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131E8191-C385-1BF2-FA66-13298CF9D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5883" y="1974433"/>
            <a:ext cx="3949481" cy="1453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GB" sz="4000"/>
              <a:t>Challenges and Solutions</a:t>
            </a:r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04D2D7F3-4FC4-7884-CD07-77AE0B67F6C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A44CD577-340B-B1B2-0142-3FC3576CFF44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2308D112-183B-63DF-6F0C-70CA8EAC4AC5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E958425D-659E-9AD3-43D0-02F40183A3A1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BE68DD86-9B04-65D0-14CB-D0F4623E740B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212BA533-5B85-3688-3394-870AE6CAB856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33B0124F-8820-8D24-1DCA-FDCEEB050560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6176ACB0-D18C-55D2-B0E2-D11855B866B2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3F0A23E2-FC9E-0B45-18C7-F904274E5E2E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F20E8BED-98FF-6D4F-602A-9E12F0683C42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EB584D89-1938-9EE6-0DED-89345522A531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522A53EC-3480-D3BF-C23F-F7AAE7B06169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27EE5F7C-96A1-C0AC-7F8A-3272BEA9D139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9AF97AA3-F885-E982-DAF0-A80B295F181C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00C51CC1-C22A-AAAD-13D7-25A900B64430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CBF9B27A-E2C2-5040-3AFC-17114771AAEF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966E3E6C-04D1-5BE9-3CD0-AC33330EC5BF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16188C21-E766-F259-93A5-EE42FC715E1E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B0D00486-B88C-49B7-6489-A18DED488752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C4A86A3C-F3B7-D925-F4B8-6F8DB5F58046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8646D89F-40DD-0FF7-F97C-5B37AE924A67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841AFE3D-5E21-D514-9AA5-0A68D121B703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24E1BB47-807C-2004-932C-96C42A2134E6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86136260-2E80-DAEC-4892-0669666A4FAD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FED3877B-2B7E-DADE-B72C-18B1CBA5B4B7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D825A7A5-4C69-0695-EEFF-A8AE2AE68392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98CEFF8D-E498-2181-3C48-FDCDF8079F71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41FC613B-72B4-DCF0-B908-F3A3A833ED5E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B7C7A506-8747-162D-D54E-065538E9224E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D57B34FF-A3D3-BDD1-3454-A7C8EF39AE5B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AA98B88F-7C98-3285-22B4-1C3E5C0423D0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D665C015-78F0-2996-5BA6-F1FB733FE17C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A83B6D19-CD42-1D63-EA18-0A901EA817AB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8CD7EA7F-EDA1-5304-1A48-43172B496ABD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8F3FF601-DC10-AAD6-BAB6-12A7A69108A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13A813FF-B6D4-96A6-0406-1E3DA88125AC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149870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E2A2-A887-A431-D847-9B86BB88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38">
            <a:extLst>
              <a:ext uri="{FF2B5EF4-FFF2-40B4-BE49-F238E27FC236}">
                <a16:creationId xmlns:a16="http://schemas.microsoft.com/office/drawing/2014/main" id="{F54329D5-1D0C-4575-8540-B2472333FAF5}"/>
              </a:ext>
            </a:extLst>
          </p:cNvPr>
          <p:cNvSpPr txBox="1">
            <a:spLocks/>
          </p:cNvSpPr>
          <p:nvPr/>
        </p:nvSpPr>
        <p:spPr>
          <a:xfrm>
            <a:off x="1256995" y="1004058"/>
            <a:ext cx="6630010" cy="3135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SG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Google Shape;524;p38">
            <a:extLst>
              <a:ext uri="{FF2B5EF4-FFF2-40B4-BE49-F238E27FC236}">
                <a16:creationId xmlns:a16="http://schemas.microsoft.com/office/drawing/2014/main" id="{DB79BAC1-2E55-E578-287E-EF1E6F2FC433}"/>
              </a:ext>
            </a:extLst>
          </p:cNvPr>
          <p:cNvSpPr txBox="1">
            <a:spLocks/>
          </p:cNvSpPr>
          <p:nvPr/>
        </p:nvSpPr>
        <p:spPr>
          <a:xfrm>
            <a:off x="474673" y="13279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b="1">
                <a:solidFill>
                  <a:schemeClr val="tx1"/>
                </a:solidFill>
                <a:latin typeface="Sora"/>
                <a:cs typeface="Sora"/>
              </a:rPr>
              <a:t>Challenges and Solutions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76C47-C42B-A8D6-C101-F67FDC9A1C70}"/>
              </a:ext>
            </a:extLst>
          </p:cNvPr>
          <p:cNvSpPr txBox="1"/>
          <p:nvPr/>
        </p:nvSpPr>
        <p:spPr>
          <a:xfrm>
            <a:off x="604496" y="976173"/>
            <a:ext cx="8353189" cy="4140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D9A90-42F9-A2E1-39F8-B72725E5F2D1}"/>
              </a:ext>
            </a:extLst>
          </p:cNvPr>
          <p:cNvSpPr txBox="1"/>
          <p:nvPr/>
        </p:nvSpPr>
        <p:spPr>
          <a:xfrm>
            <a:off x="674880" y="1357848"/>
            <a:ext cx="779423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GB" sz="2000" b="1">
                <a:solidFill>
                  <a:schemeClr val="tx1"/>
                </a:solidFill>
                <a:cs typeface="Sora"/>
              </a:rPr>
              <a:t>Complicated architecture (integration of k8s)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>
                <a:solidFill>
                  <a:schemeClr val="tx1"/>
                </a:solidFill>
                <a:cs typeface="Sora"/>
              </a:rPr>
              <a:t>Solution: visualise diagram so that everyone is on the same page.</a:t>
            </a:r>
          </a:p>
          <a:p>
            <a:pPr marL="285750" indent="-285750">
              <a:buChar char="•"/>
            </a:pPr>
            <a:r>
              <a:rPr lang="en-GB" sz="2000" b="1">
                <a:solidFill>
                  <a:schemeClr val="tx1"/>
                </a:solidFill>
                <a:cs typeface="Sora"/>
              </a:rPr>
              <a:t>Time management 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GB" sz="2000">
                <a:solidFill>
                  <a:schemeClr val="tx1"/>
                </a:solidFill>
                <a:cs typeface="Sora"/>
              </a:rPr>
              <a:t>Solution: establish set group meetings and set agendas.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1"/>
                </a:solidFill>
                <a:cs typeface="Sora"/>
              </a:rPr>
              <a:t>Adding of different new features (unfamiliarity)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GB" sz="2000">
                <a:solidFill>
                  <a:schemeClr val="tx1"/>
                </a:solidFill>
                <a:cs typeface="Sora"/>
              </a:rPr>
              <a:t>Solution: research online and use AI to assist.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endParaRPr lang="en-GB" sz="2000">
              <a:solidFill>
                <a:schemeClr val="tx1"/>
              </a:solidFill>
              <a:cs typeface="Sor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GB" sz="2000">
              <a:solidFill>
                <a:schemeClr val="tx1"/>
              </a:solidFill>
              <a:cs typeface="Sora"/>
            </a:endParaRPr>
          </a:p>
          <a:p>
            <a:pPr lvl="1"/>
            <a:endParaRPr lang="en-GB" sz="2000">
              <a:solidFill>
                <a:schemeClr val="tx1"/>
              </a:solidFill>
              <a:cs typeface="Sora"/>
            </a:endParaRPr>
          </a:p>
          <a:p>
            <a:pPr marL="285750" indent="-285750">
              <a:buChar char="•"/>
            </a:pPr>
            <a:endParaRPr lang="en-GB" sz="2000">
              <a:solidFill>
                <a:schemeClr val="tx1"/>
              </a:solidFill>
              <a:cs typeface="Sora"/>
            </a:endParaRPr>
          </a:p>
          <a:p>
            <a:pPr marL="285750" indent="-285750">
              <a:buChar char="•"/>
            </a:pPr>
            <a:endParaRPr lang="en-GB" sz="2000">
              <a:solidFill>
                <a:schemeClr val="tx1"/>
              </a:solidFill>
              <a:cs typeface="Sora"/>
            </a:endParaRPr>
          </a:p>
        </p:txBody>
      </p:sp>
    </p:spTree>
    <p:extLst>
      <p:ext uri="{BB962C8B-B14F-4D97-AF65-F5344CB8AC3E}">
        <p14:creationId xmlns:p14="http://schemas.microsoft.com/office/powerpoint/2010/main" val="4224368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2DA9932C-548F-5AA9-66BA-D781A829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D4E8CC6E-A279-0E13-37F6-BFA31713B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1974433"/>
            <a:ext cx="4203365" cy="1453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" sz="4000"/>
              <a:t>Demonstration</a:t>
            </a:r>
            <a:endParaRPr lang="en-SG" sz="3600"/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D96138E9-64B5-5E2D-14D3-9089987330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1182" y="1439000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9ABD1593-4750-86B9-DD8C-8D619B00BF26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EC92A181-1CAB-5B37-7FCE-344C70B2F8F8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A6BB98A4-27DC-5A3B-800A-C6035FE4E3A8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829BB946-59C0-DAAC-2BFE-F600BB26FAE4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0D312720-49E2-5BDB-2D26-59F2906C28CA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D3C65541-E977-A8C7-9F7E-762C5EF0D4F4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1A9E4989-5786-8480-116C-82F518A5ED12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A882D53D-AEC4-1CB7-6C2F-11A1D5F47755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EECF8FD2-6DDB-F8A3-677F-2164D8E30BF3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4CFCF5FD-74F5-01B6-7D5B-E7155D3947BB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F10A8DFE-B727-CA2D-476A-586D9CF6E267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9398AF69-1E5D-0966-355D-60C6E9D58E7B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E273E280-6E4E-192C-3902-C4914B70D652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E388CFCB-D308-0E41-B312-3E8680610F67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EBAFC671-5114-08BE-E0F7-22EDF581AE82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1EB19690-0B2F-3470-D205-0CCC11DF3CED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E01F41F4-FC5C-C9A7-CEC4-A1F6A11A2E7E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DE4C4114-4D05-0F6C-8F36-F47E6547759D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24E2934F-927D-0EC1-A21E-95860DE405C2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938482EA-01F4-0A55-B175-90CB83CF0BF9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8E48EC4B-58A1-1597-3577-9EB40DA792D3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E951536F-FA8E-C36F-B9BD-DC76ECE1404F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B966DBC4-0786-0E19-D43D-E59D24F25C65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A2394165-4D67-C4CC-2632-514EF10FF0F2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8E5A41E2-7A5F-0D47-EA13-BCEA635F4E22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478A22FE-172D-CBA1-6D63-E495BE95FD58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A53DA09F-C463-F545-9991-9ACDCFB0EEB2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2FBF9D2D-F645-BC07-3394-220D5FB1BFA7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33C57BDB-E5EE-34FB-50C7-E92CCE04B4C1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07DD004C-98F5-1033-03CA-5844A85E770E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8DCBC39E-4958-4E67-690C-3A5F44D157FF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4DF3E46E-A69B-E3D8-84FF-1EC09DDCC673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570442CC-B4A1-2879-7A29-B9FBB954E307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8067A2AE-A20E-E037-B5A9-DBD7520E8AD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76CB456C-2AEB-21C5-8243-11A379FCB63B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795185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2"/>
          <p:cNvSpPr txBox="1">
            <a:spLocks noGrp="1"/>
          </p:cNvSpPr>
          <p:nvPr>
            <p:ph type="title"/>
          </p:nvPr>
        </p:nvSpPr>
        <p:spPr>
          <a:xfrm>
            <a:off x="643580" y="2039997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233" name="Google Shape;1233;p62"/>
          <p:cNvGrpSpPr/>
          <p:nvPr/>
        </p:nvGrpSpPr>
        <p:grpSpPr>
          <a:xfrm>
            <a:off x="6034854" y="1343530"/>
            <a:ext cx="2894210" cy="2843761"/>
            <a:chOff x="5970625" y="1743798"/>
            <a:chExt cx="2272821" cy="2233203"/>
          </a:xfrm>
        </p:grpSpPr>
        <p:sp>
          <p:nvSpPr>
            <p:cNvPr id="1234" name="Google Shape;1234;p62"/>
            <p:cNvSpPr/>
            <p:nvPr/>
          </p:nvSpPr>
          <p:spPr>
            <a:xfrm>
              <a:off x="5970625" y="1743798"/>
              <a:ext cx="2233096" cy="2233203"/>
            </a:xfrm>
            <a:custGeom>
              <a:avLst/>
              <a:gdLst/>
              <a:ahLst/>
              <a:cxnLst/>
              <a:rect l="l" t="t" r="r" b="b"/>
              <a:pathLst>
                <a:path w="43058" h="43058" extrusionOk="0">
                  <a:moveTo>
                    <a:pt x="43058" y="21529"/>
                  </a:moveTo>
                  <a:cubicBezTo>
                    <a:pt x="43058" y="33419"/>
                    <a:pt x="33419" y="43058"/>
                    <a:pt x="21529" y="43058"/>
                  </a:cubicBezTo>
                  <a:cubicBezTo>
                    <a:pt x="9640" y="43058"/>
                    <a:pt x="0" y="33419"/>
                    <a:pt x="0" y="21529"/>
                  </a:cubicBezTo>
                  <a:cubicBezTo>
                    <a:pt x="0" y="9640"/>
                    <a:pt x="9640" y="0"/>
                    <a:pt x="21529" y="0"/>
                  </a:cubicBezTo>
                  <a:cubicBezTo>
                    <a:pt x="33419" y="0"/>
                    <a:pt x="43058" y="9640"/>
                    <a:pt x="43058" y="215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62"/>
            <p:cNvSpPr/>
            <p:nvPr/>
          </p:nvSpPr>
          <p:spPr>
            <a:xfrm>
              <a:off x="8039522" y="2569044"/>
              <a:ext cx="203923" cy="204504"/>
            </a:xfrm>
            <a:custGeom>
              <a:avLst/>
              <a:gdLst/>
              <a:ahLst/>
              <a:cxnLst/>
              <a:rect l="l" t="t" r="r" b="b"/>
              <a:pathLst>
                <a:path w="3932" h="3943" extrusionOk="0">
                  <a:moveTo>
                    <a:pt x="3713" y="3931"/>
                  </a:moveTo>
                  <a:cubicBezTo>
                    <a:pt x="3598" y="3931"/>
                    <a:pt x="3500" y="3833"/>
                    <a:pt x="3500" y="3712"/>
                  </a:cubicBezTo>
                  <a:cubicBezTo>
                    <a:pt x="3500" y="1905"/>
                    <a:pt x="2032" y="432"/>
                    <a:pt x="219" y="432"/>
                  </a:cubicBezTo>
                  <a:cubicBezTo>
                    <a:pt x="104" y="432"/>
                    <a:pt x="1" y="340"/>
                    <a:pt x="1" y="219"/>
                  </a:cubicBezTo>
                  <a:cubicBezTo>
                    <a:pt x="1" y="104"/>
                    <a:pt x="93" y="0"/>
                    <a:pt x="219" y="0"/>
                  </a:cubicBezTo>
                  <a:cubicBezTo>
                    <a:pt x="2262" y="0"/>
                    <a:pt x="3920" y="1664"/>
                    <a:pt x="3920" y="3707"/>
                  </a:cubicBezTo>
                  <a:cubicBezTo>
                    <a:pt x="3931" y="3833"/>
                    <a:pt x="3828" y="3931"/>
                    <a:pt x="3713" y="3931"/>
                  </a:cubicBezTo>
                  <a:close/>
                  <a:moveTo>
                    <a:pt x="2878" y="3718"/>
                  </a:moveTo>
                  <a:cubicBezTo>
                    <a:pt x="2878" y="2251"/>
                    <a:pt x="1687" y="1065"/>
                    <a:pt x="225" y="1065"/>
                  </a:cubicBezTo>
                  <a:cubicBezTo>
                    <a:pt x="110" y="1065"/>
                    <a:pt x="6" y="1157"/>
                    <a:pt x="6" y="1284"/>
                  </a:cubicBezTo>
                  <a:cubicBezTo>
                    <a:pt x="6" y="1399"/>
                    <a:pt x="104" y="1497"/>
                    <a:pt x="225" y="1497"/>
                  </a:cubicBezTo>
                  <a:cubicBezTo>
                    <a:pt x="1457" y="1497"/>
                    <a:pt x="2452" y="2498"/>
                    <a:pt x="2452" y="3730"/>
                  </a:cubicBezTo>
                  <a:cubicBezTo>
                    <a:pt x="2452" y="3845"/>
                    <a:pt x="2550" y="3943"/>
                    <a:pt x="2671" y="3943"/>
                  </a:cubicBezTo>
                  <a:cubicBezTo>
                    <a:pt x="2792" y="3943"/>
                    <a:pt x="2878" y="3833"/>
                    <a:pt x="2878" y="3718"/>
                  </a:cubicBezTo>
                  <a:close/>
                  <a:moveTo>
                    <a:pt x="1831" y="3718"/>
                  </a:moveTo>
                  <a:cubicBezTo>
                    <a:pt x="1831" y="2838"/>
                    <a:pt x="1111" y="2107"/>
                    <a:pt x="219" y="2107"/>
                  </a:cubicBezTo>
                  <a:cubicBezTo>
                    <a:pt x="104" y="2107"/>
                    <a:pt x="1" y="2205"/>
                    <a:pt x="1" y="2325"/>
                  </a:cubicBezTo>
                  <a:cubicBezTo>
                    <a:pt x="1" y="2446"/>
                    <a:pt x="93" y="2538"/>
                    <a:pt x="219" y="2538"/>
                  </a:cubicBezTo>
                  <a:cubicBezTo>
                    <a:pt x="870" y="2538"/>
                    <a:pt x="1405" y="3074"/>
                    <a:pt x="1405" y="3730"/>
                  </a:cubicBezTo>
                  <a:cubicBezTo>
                    <a:pt x="1405" y="3845"/>
                    <a:pt x="1497" y="3943"/>
                    <a:pt x="1618" y="3943"/>
                  </a:cubicBezTo>
                  <a:cubicBezTo>
                    <a:pt x="1733" y="3931"/>
                    <a:pt x="1831" y="3833"/>
                    <a:pt x="1831" y="37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62"/>
            <p:cNvSpPr/>
            <p:nvPr/>
          </p:nvSpPr>
          <p:spPr>
            <a:xfrm>
              <a:off x="5996867" y="2974354"/>
              <a:ext cx="191061" cy="190189"/>
            </a:xfrm>
            <a:custGeom>
              <a:avLst/>
              <a:gdLst/>
              <a:ahLst/>
              <a:cxnLst/>
              <a:rect l="l" t="t" r="r" b="b"/>
              <a:pathLst>
                <a:path w="3684" h="3667" extrusionOk="0">
                  <a:moveTo>
                    <a:pt x="3672" y="202"/>
                  </a:moveTo>
                  <a:cubicBezTo>
                    <a:pt x="3672" y="306"/>
                    <a:pt x="3586" y="398"/>
                    <a:pt x="3471" y="398"/>
                  </a:cubicBezTo>
                  <a:cubicBezTo>
                    <a:pt x="1779" y="398"/>
                    <a:pt x="404" y="1773"/>
                    <a:pt x="404" y="3465"/>
                  </a:cubicBezTo>
                  <a:cubicBezTo>
                    <a:pt x="404" y="3574"/>
                    <a:pt x="317" y="3666"/>
                    <a:pt x="202" y="3666"/>
                  </a:cubicBezTo>
                  <a:cubicBezTo>
                    <a:pt x="93" y="3666"/>
                    <a:pt x="1" y="3580"/>
                    <a:pt x="1" y="3465"/>
                  </a:cubicBezTo>
                  <a:cubicBezTo>
                    <a:pt x="1" y="1560"/>
                    <a:pt x="1555" y="6"/>
                    <a:pt x="3459" y="6"/>
                  </a:cubicBezTo>
                  <a:cubicBezTo>
                    <a:pt x="3586" y="1"/>
                    <a:pt x="3672" y="81"/>
                    <a:pt x="3672" y="202"/>
                  </a:cubicBezTo>
                  <a:close/>
                  <a:moveTo>
                    <a:pt x="3477" y="979"/>
                  </a:moveTo>
                  <a:cubicBezTo>
                    <a:pt x="2113" y="979"/>
                    <a:pt x="996" y="2090"/>
                    <a:pt x="996" y="3459"/>
                  </a:cubicBezTo>
                  <a:cubicBezTo>
                    <a:pt x="996" y="3569"/>
                    <a:pt x="1083" y="3661"/>
                    <a:pt x="1198" y="3661"/>
                  </a:cubicBezTo>
                  <a:cubicBezTo>
                    <a:pt x="1307" y="3661"/>
                    <a:pt x="1399" y="3574"/>
                    <a:pt x="1399" y="3459"/>
                  </a:cubicBezTo>
                  <a:cubicBezTo>
                    <a:pt x="1399" y="2308"/>
                    <a:pt x="2331" y="1370"/>
                    <a:pt x="3482" y="1370"/>
                  </a:cubicBezTo>
                  <a:cubicBezTo>
                    <a:pt x="3592" y="1370"/>
                    <a:pt x="3684" y="1284"/>
                    <a:pt x="3684" y="1169"/>
                  </a:cubicBezTo>
                  <a:cubicBezTo>
                    <a:pt x="3672" y="1065"/>
                    <a:pt x="3586" y="979"/>
                    <a:pt x="3477" y="979"/>
                  </a:cubicBezTo>
                  <a:close/>
                  <a:moveTo>
                    <a:pt x="3477" y="1951"/>
                  </a:moveTo>
                  <a:cubicBezTo>
                    <a:pt x="2648" y="1951"/>
                    <a:pt x="1975" y="2630"/>
                    <a:pt x="1975" y="3459"/>
                  </a:cubicBezTo>
                  <a:cubicBezTo>
                    <a:pt x="1975" y="3563"/>
                    <a:pt x="2061" y="3661"/>
                    <a:pt x="2176" y="3661"/>
                  </a:cubicBezTo>
                  <a:cubicBezTo>
                    <a:pt x="2291" y="3661"/>
                    <a:pt x="2377" y="3574"/>
                    <a:pt x="2377" y="3459"/>
                  </a:cubicBezTo>
                  <a:cubicBezTo>
                    <a:pt x="2377" y="2843"/>
                    <a:pt x="2872" y="2349"/>
                    <a:pt x="3482" y="2349"/>
                  </a:cubicBezTo>
                  <a:cubicBezTo>
                    <a:pt x="3592" y="2349"/>
                    <a:pt x="3684" y="2262"/>
                    <a:pt x="3684" y="2147"/>
                  </a:cubicBezTo>
                  <a:cubicBezTo>
                    <a:pt x="3672" y="2043"/>
                    <a:pt x="3586" y="1951"/>
                    <a:pt x="3477" y="19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62"/>
            <p:cNvSpPr/>
            <p:nvPr/>
          </p:nvSpPr>
          <p:spPr>
            <a:xfrm>
              <a:off x="6169673" y="3213443"/>
              <a:ext cx="433726" cy="433436"/>
            </a:xfrm>
            <a:custGeom>
              <a:avLst/>
              <a:gdLst/>
              <a:ahLst/>
              <a:cxnLst/>
              <a:rect l="l" t="t" r="r" b="b"/>
              <a:pathLst>
                <a:path w="8363" h="8357" extrusionOk="0">
                  <a:moveTo>
                    <a:pt x="4179" y="0"/>
                  </a:moveTo>
                  <a:cubicBezTo>
                    <a:pt x="1877" y="0"/>
                    <a:pt x="1" y="1870"/>
                    <a:pt x="1" y="4178"/>
                  </a:cubicBezTo>
                  <a:cubicBezTo>
                    <a:pt x="1" y="6480"/>
                    <a:pt x="1871" y="8356"/>
                    <a:pt x="4179" y="8356"/>
                  </a:cubicBezTo>
                  <a:cubicBezTo>
                    <a:pt x="6481" y="8356"/>
                    <a:pt x="8363" y="6486"/>
                    <a:pt x="8363" y="4178"/>
                  </a:cubicBezTo>
                  <a:cubicBezTo>
                    <a:pt x="8363" y="1870"/>
                    <a:pt x="6481" y="0"/>
                    <a:pt x="4179" y="0"/>
                  </a:cubicBezTo>
                  <a:close/>
                  <a:moveTo>
                    <a:pt x="4179" y="8034"/>
                  </a:moveTo>
                  <a:cubicBezTo>
                    <a:pt x="3701" y="8034"/>
                    <a:pt x="3195" y="7280"/>
                    <a:pt x="2936" y="6037"/>
                  </a:cubicBezTo>
                  <a:cubicBezTo>
                    <a:pt x="3304" y="5985"/>
                    <a:pt x="3713" y="5956"/>
                    <a:pt x="4179" y="5956"/>
                  </a:cubicBezTo>
                  <a:cubicBezTo>
                    <a:pt x="4651" y="5956"/>
                    <a:pt x="5065" y="5985"/>
                    <a:pt x="5428" y="6037"/>
                  </a:cubicBezTo>
                  <a:cubicBezTo>
                    <a:pt x="5169" y="7280"/>
                    <a:pt x="4662" y="8034"/>
                    <a:pt x="4179" y="8034"/>
                  </a:cubicBezTo>
                  <a:close/>
                  <a:moveTo>
                    <a:pt x="4179" y="5640"/>
                  </a:moveTo>
                  <a:cubicBezTo>
                    <a:pt x="3690" y="5640"/>
                    <a:pt x="3252" y="5669"/>
                    <a:pt x="2872" y="5720"/>
                  </a:cubicBezTo>
                  <a:cubicBezTo>
                    <a:pt x="2798" y="5300"/>
                    <a:pt x="2757" y="4834"/>
                    <a:pt x="2752" y="4328"/>
                  </a:cubicBezTo>
                  <a:lnTo>
                    <a:pt x="5600" y="4328"/>
                  </a:lnTo>
                  <a:cubicBezTo>
                    <a:pt x="5589" y="4834"/>
                    <a:pt x="5548" y="5300"/>
                    <a:pt x="5474" y="5720"/>
                  </a:cubicBezTo>
                  <a:cubicBezTo>
                    <a:pt x="5111" y="5674"/>
                    <a:pt x="4668" y="5640"/>
                    <a:pt x="4179" y="5640"/>
                  </a:cubicBezTo>
                  <a:close/>
                  <a:moveTo>
                    <a:pt x="4179" y="317"/>
                  </a:moveTo>
                  <a:cubicBezTo>
                    <a:pt x="4662" y="317"/>
                    <a:pt x="5169" y="1071"/>
                    <a:pt x="5428" y="2314"/>
                  </a:cubicBezTo>
                  <a:cubicBezTo>
                    <a:pt x="5059" y="2365"/>
                    <a:pt x="4651" y="2394"/>
                    <a:pt x="4179" y="2394"/>
                  </a:cubicBezTo>
                  <a:cubicBezTo>
                    <a:pt x="3713" y="2394"/>
                    <a:pt x="3298" y="2365"/>
                    <a:pt x="2936" y="2314"/>
                  </a:cubicBezTo>
                  <a:cubicBezTo>
                    <a:pt x="3195" y="1071"/>
                    <a:pt x="3701" y="317"/>
                    <a:pt x="4179" y="317"/>
                  </a:cubicBezTo>
                  <a:close/>
                  <a:moveTo>
                    <a:pt x="4179" y="2705"/>
                  </a:moveTo>
                  <a:cubicBezTo>
                    <a:pt x="4668" y="2705"/>
                    <a:pt x="5111" y="2676"/>
                    <a:pt x="5491" y="2624"/>
                  </a:cubicBezTo>
                  <a:cubicBezTo>
                    <a:pt x="5560" y="3039"/>
                    <a:pt x="5606" y="3511"/>
                    <a:pt x="5612" y="4011"/>
                  </a:cubicBezTo>
                  <a:lnTo>
                    <a:pt x="2763" y="4011"/>
                  </a:lnTo>
                  <a:cubicBezTo>
                    <a:pt x="2769" y="3511"/>
                    <a:pt x="2815" y="3039"/>
                    <a:pt x="2884" y="2624"/>
                  </a:cubicBezTo>
                  <a:cubicBezTo>
                    <a:pt x="3258" y="2676"/>
                    <a:pt x="3690" y="2705"/>
                    <a:pt x="4179" y="2705"/>
                  </a:cubicBezTo>
                  <a:close/>
                  <a:moveTo>
                    <a:pt x="2441" y="4023"/>
                  </a:moveTo>
                  <a:lnTo>
                    <a:pt x="323" y="4023"/>
                  </a:lnTo>
                  <a:cubicBezTo>
                    <a:pt x="352" y="3315"/>
                    <a:pt x="576" y="2653"/>
                    <a:pt x="939" y="2095"/>
                  </a:cubicBezTo>
                  <a:cubicBezTo>
                    <a:pt x="1169" y="2210"/>
                    <a:pt x="1704" y="2440"/>
                    <a:pt x="2567" y="2584"/>
                  </a:cubicBezTo>
                  <a:cubicBezTo>
                    <a:pt x="2493" y="3021"/>
                    <a:pt x="2447" y="3511"/>
                    <a:pt x="2441" y="4023"/>
                  </a:cubicBezTo>
                  <a:close/>
                  <a:moveTo>
                    <a:pt x="2441" y="4328"/>
                  </a:moveTo>
                  <a:cubicBezTo>
                    <a:pt x="2447" y="4840"/>
                    <a:pt x="2493" y="5323"/>
                    <a:pt x="2562" y="5766"/>
                  </a:cubicBezTo>
                  <a:cubicBezTo>
                    <a:pt x="1698" y="5910"/>
                    <a:pt x="1157" y="6141"/>
                    <a:pt x="927" y="6256"/>
                  </a:cubicBezTo>
                  <a:cubicBezTo>
                    <a:pt x="570" y="5697"/>
                    <a:pt x="346" y="5036"/>
                    <a:pt x="317" y="4328"/>
                  </a:cubicBezTo>
                  <a:close/>
                  <a:moveTo>
                    <a:pt x="5922" y="4328"/>
                  </a:moveTo>
                  <a:lnTo>
                    <a:pt x="8034" y="4328"/>
                  </a:lnTo>
                  <a:cubicBezTo>
                    <a:pt x="8006" y="5036"/>
                    <a:pt x="7787" y="5697"/>
                    <a:pt x="7424" y="6256"/>
                  </a:cubicBezTo>
                  <a:cubicBezTo>
                    <a:pt x="7194" y="6141"/>
                    <a:pt x="6653" y="5910"/>
                    <a:pt x="5790" y="5766"/>
                  </a:cubicBezTo>
                  <a:cubicBezTo>
                    <a:pt x="5871" y="5323"/>
                    <a:pt x="5917" y="4840"/>
                    <a:pt x="5922" y="4328"/>
                  </a:cubicBezTo>
                  <a:close/>
                  <a:moveTo>
                    <a:pt x="5922" y="4023"/>
                  </a:moveTo>
                  <a:cubicBezTo>
                    <a:pt x="5917" y="3511"/>
                    <a:pt x="5871" y="3027"/>
                    <a:pt x="5802" y="2584"/>
                  </a:cubicBezTo>
                  <a:cubicBezTo>
                    <a:pt x="6665" y="2440"/>
                    <a:pt x="7200" y="2210"/>
                    <a:pt x="7430" y="2095"/>
                  </a:cubicBezTo>
                  <a:cubicBezTo>
                    <a:pt x="7793" y="2653"/>
                    <a:pt x="8017" y="3315"/>
                    <a:pt x="8046" y="4023"/>
                  </a:cubicBezTo>
                  <a:close/>
                  <a:moveTo>
                    <a:pt x="7246" y="1824"/>
                  </a:moveTo>
                  <a:cubicBezTo>
                    <a:pt x="7016" y="1934"/>
                    <a:pt x="6521" y="2135"/>
                    <a:pt x="5744" y="2268"/>
                  </a:cubicBezTo>
                  <a:cubicBezTo>
                    <a:pt x="5571" y="1439"/>
                    <a:pt x="5284" y="777"/>
                    <a:pt x="4927" y="380"/>
                  </a:cubicBezTo>
                  <a:cubicBezTo>
                    <a:pt x="5865" y="570"/>
                    <a:pt x="6682" y="1094"/>
                    <a:pt x="7246" y="1824"/>
                  </a:cubicBezTo>
                  <a:close/>
                  <a:moveTo>
                    <a:pt x="3442" y="386"/>
                  </a:moveTo>
                  <a:cubicBezTo>
                    <a:pt x="3085" y="777"/>
                    <a:pt x="2798" y="1439"/>
                    <a:pt x="2625" y="2273"/>
                  </a:cubicBezTo>
                  <a:cubicBezTo>
                    <a:pt x="1848" y="2141"/>
                    <a:pt x="1353" y="1940"/>
                    <a:pt x="1123" y="1836"/>
                  </a:cubicBezTo>
                  <a:cubicBezTo>
                    <a:pt x="1687" y="1094"/>
                    <a:pt x="2498" y="570"/>
                    <a:pt x="3442" y="386"/>
                  </a:cubicBezTo>
                  <a:close/>
                  <a:moveTo>
                    <a:pt x="1117" y="6526"/>
                  </a:moveTo>
                  <a:cubicBezTo>
                    <a:pt x="1347" y="6417"/>
                    <a:pt x="1842" y="6215"/>
                    <a:pt x="2619" y="6083"/>
                  </a:cubicBezTo>
                  <a:cubicBezTo>
                    <a:pt x="2792" y="6912"/>
                    <a:pt x="3080" y="7573"/>
                    <a:pt x="3431" y="7971"/>
                  </a:cubicBezTo>
                  <a:cubicBezTo>
                    <a:pt x="2498" y="7775"/>
                    <a:pt x="1687" y="7251"/>
                    <a:pt x="1117" y="6526"/>
                  </a:cubicBezTo>
                  <a:close/>
                  <a:moveTo>
                    <a:pt x="4927" y="7965"/>
                  </a:moveTo>
                  <a:cubicBezTo>
                    <a:pt x="5284" y="7573"/>
                    <a:pt x="5571" y="6912"/>
                    <a:pt x="5744" y="6077"/>
                  </a:cubicBezTo>
                  <a:cubicBezTo>
                    <a:pt x="6521" y="6204"/>
                    <a:pt x="7016" y="6411"/>
                    <a:pt x="7246" y="6515"/>
                  </a:cubicBezTo>
                  <a:cubicBezTo>
                    <a:pt x="6682" y="7251"/>
                    <a:pt x="5865" y="7775"/>
                    <a:pt x="4927" y="79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62"/>
            <p:cNvSpPr/>
            <p:nvPr/>
          </p:nvSpPr>
          <p:spPr>
            <a:xfrm>
              <a:off x="7458455" y="1867648"/>
              <a:ext cx="507993" cy="508381"/>
            </a:xfrm>
            <a:custGeom>
              <a:avLst/>
              <a:gdLst/>
              <a:ahLst/>
              <a:cxnLst/>
              <a:rect l="l" t="t" r="r" b="b"/>
              <a:pathLst>
                <a:path w="9795" h="9802" extrusionOk="0">
                  <a:moveTo>
                    <a:pt x="4897" y="1"/>
                  </a:moveTo>
                  <a:cubicBezTo>
                    <a:pt x="2198" y="1"/>
                    <a:pt x="0" y="2193"/>
                    <a:pt x="0" y="4898"/>
                  </a:cubicBezTo>
                  <a:cubicBezTo>
                    <a:pt x="0" y="7603"/>
                    <a:pt x="2193" y="9801"/>
                    <a:pt x="4897" y="9801"/>
                  </a:cubicBezTo>
                  <a:cubicBezTo>
                    <a:pt x="7596" y="9801"/>
                    <a:pt x="9795" y="7603"/>
                    <a:pt x="9795" y="4898"/>
                  </a:cubicBezTo>
                  <a:cubicBezTo>
                    <a:pt x="9795" y="2193"/>
                    <a:pt x="7602" y="1"/>
                    <a:pt x="4897" y="1"/>
                  </a:cubicBezTo>
                  <a:close/>
                  <a:moveTo>
                    <a:pt x="4897" y="9433"/>
                  </a:moveTo>
                  <a:cubicBezTo>
                    <a:pt x="4333" y="9433"/>
                    <a:pt x="3741" y="8541"/>
                    <a:pt x="3436" y="7085"/>
                  </a:cubicBezTo>
                  <a:cubicBezTo>
                    <a:pt x="3862" y="7027"/>
                    <a:pt x="4351" y="6993"/>
                    <a:pt x="4897" y="6993"/>
                  </a:cubicBezTo>
                  <a:cubicBezTo>
                    <a:pt x="5444" y="6993"/>
                    <a:pt x="5933" y="7027"/>
                    <a:pt x="6359" y="7085"/>
                  </a:cubicBezTo>
                  <a:cubicBezTo>
                    <a:pt x="6054" y="8541"/>
                    <a:pt x="5467" y="9433"/>
                    <a:pt x="4897" y="9433"/>
                  </a:cubicBezTo>
                  <a:close/>
                  <a:moveTo>
                    <a:pt x="4897" y="6619"/>
                  </a:moveTo>
                  <a:cubicBezTo>
                    <a:pt x="4322" y="6619"/>
                    <a:pt x="3810" y="6653"/>
                    <a:pt x="3367" y="6711"/>
                  </a:cubicBezTo>
                  <a:cubicBezTo>
                    <a:pt x="3286" y="6222"/>
                    <a:pt x="3234" y="5675"/>
                    <a:pt x="3223" y="5082"/>
                  </a:cubicBezTo>
                  <a:lnTo>
                    <a:pt x="6566" y="5082"/>
                  </a:lnTo>
                  <a:cubicBezTo>
                    <a:pt x="6561" y="5669"/>
                    <a:pt x="6509" y="6216"/>
                    <a:pt x="6422" y="6711"/>
                  </a:cubicBezTo>
                  <a:cubicBezTo>
                    <a:pt x="5985" y="6665"/>
                    <a:pt x="5473" y="6619"/>
                    <a:pt x="4897" y="6619"/>
                  </a:cubicBezTo>
                  <a:close/>
                  <a:moveTo>
                    <a:pt x="4897" y="375"/>
                  </a:moveTo>
                  <a:cubicBezTo>
                    <a:pt x="5456" y="375"/>
                    <a:pt x="6054" y="1267"/>
                    <a:pt x="6359" y="2723"/>
                  </a:cubicBezTo>
                  <a:cubicBezTo>
                    <a:pt x="5933" y="2780"/>
                    <a:pt x="5444" y="2815"/>
                    <a:pt x="4897" y="2815"/>
                  </a:cubicBezTo>
                  <a:cubicBezTo>
                    <a:pt x="4351" y="2815"/>
                    <a:pt x="3862" y="2780"/>
                    <a:pt x="3436" y="2723"/>
                  </a:cubicBezTo>
                  <a:cubicBezTo>
                    <a:pt x="3746" y="1261"/>
                    <a:pt x="4333" y="375"/>
                    <a:pt x="4897" y="375"/>
                  </a:cubicBezTo>
                  <a:close/>
                  <a:moveTo>
                    <a:pt x="4897" y="3183"/>
                  </a:moveTo>
                  <a:cubicBezTo>
                    <a:pt x="5473" y="3183"/>
                    <a:pt x="5985" y="3143"/>
                    <a:pt x="6428" y="3085"/>
                  </a:cubicBezTo>
                  <a:cubicBezTo>
                    <a:pt x="6509" y="3574"/>
                    <a:pt x="6561" y="4121"/>
                    <a:pt x="6572" y="4720"/>
                  </a:cubicBezTo>
                  <a:lnTo>
                    <a:pt x="3229" y="4720"/>
                  </a:lnTo>
                  <a:cubicBezTo>
                    <a:pt x="3234" y="4127"/>
                    <a:pt x="3286" y="3580"/>
                    <a:pt x="3372" y="3085"/>
                  </a:cubicBezTo>
                  <a:cubicBezTo>
                    <a:pt x="3810" y="3143"/>
                    <a:pt x="4322" y="3183"/>
                    <a:pt x="4897" y="3183"/>
                  </a:cubicBezTo>
                  <a:close/>
                  <a:moveTo>
                    <a:pt x="2860" y="4720"/>
                  </a:moveTo>
                  <a:lnTo>
                    <a:pt x="380" y="4720"/>
                  </a:lnTo>
                  <a:cubicBezTo>
                    <a:pt x="414" y="3891"/>
                    <a:pt x="673" y="3114"/>
                    <a:pt x="1094" y="2464"/>
                  </a:cubicBezTo>
                  <a:cubicBezTo>
                    <a:pt x="1364" y="2596"/>
                    <a:pt x="1991" y="2872"/>
                    <a:pt x="3004" y="3039"/>
                  </a:cubicBezTo>
                  <a:cubicBezTo>
                    <a:pt x="2918" y="3551"/>
                    <a:pt x="2866" y="4115"/>
                    <a:pt x="2860" y="4720"/>
                  </a:cubicBezTo>
                  <a:close/>
                  <a:moveTo>
                    <a:pt x="2860" y="5088"/>
                  </a:moveTo>
                  <a:cubicBezTo>
                    <a:pt x="2866" y="5686"/>
                    <a:pt x="2918" y="6250"/>
                    <a:pt x="3010" y="6768"/>
                  </a:cubicBezTo>
                  <a:cubicBezTo>
                    <a:pt x="1997" y="6935"/>
                    <a:pt x="1370" y="7211"/>
                    <a:pt x="1099" y="7344"/>
                  </a:cubicBezTo>
                  <a:cubicBezTo>
                    <a:pt x="673" y="6688"/>
                    <a:pt x="414" y="5917"/>
                    <a:pt x="386" y="5088"/>
                  </a:cubicBezTo>
                  <a:close/>
                  <a:moveTo>
                    <a:pt x="6940" y="5088"/>
                  </a:moveTo>
                  <a:lnTo>
                    <a:pt x="9421" y="5088"/>
                  </a:lnTo>
                  <a:cubicBezTo>
                    <a:pt x="9386" y="5917"/>
                    <a:pt x="9127" y="6694"/>
                    <a:pt x="8707" y="7344"/>
                  </a:cubicBezTo>
                  <a:cubicBezTo>
                    <a:pt x="8437" y="7211"/>
                    <a:pt x="7809" y="6935"/>
                    <a:pt x="6797" y="6768"/>
                  </a:cubicBezTo>
                  <a:cubicBezTo>
                    <a:pt x="6883" y="6250"/>
                    <a:pt x="6935" y="5686"/>
                    <a:pt x="6940" y="5088"/>
                  </a:cubicBezTo>
                  <a:close/>
                  <a:moveTo>
                    <a:pt x="6940" y="4720"/>
                  </a:moveTo>
                  <a:cubicBezTo>
                    <a:pt x="6935" y="4121"/>
                    <a:pt x="6883" y="3557"/>
                    <a:pt x="6791" y="3039"/>
                  </a:cubicBezTo>
                  <a:cubicBezTo>
                    <a:pt x="7804" y="2872"/>
                    <a:pt x="8431" y="2596"/>
                    <a:pt x="8701" y="2464"/>
                  </a:cubicBezTo>
                  <a:cubicBezTo>
                    <a:pt x="9127" y="3114"/>
                    <a:pt x="9386" y="3891"/>
                    <a:pt x="9415" y="4720"/>
                  </a:cubicBezTo>
                  <a:close/>
                  <a:moveTo>
                    <a:pt x="8494" y="2153"/>
                  </a:moveTo>
                  <a:cubicBezTo>
                    <a:pt x="8218" y="2280"/>
                    <a:pt x="7637" y="2521"/>
                    <a:pt x="6722" y="2671"/>
                  </a:cubicBezTo>
                  <a:cubicBezTo>
                    <a:pt x="6520" y="1698"/>
                    <a:pt x="6187" y="921"/>
                    <a:pt x="5772" y="461"/>
                  </a:cubicBezTo>
                  <a:cubicBezTo>
                    <a:pt x="6877" y="674"/>
                    <a:pt x="7832" y="1290"/>
                    <a:pt x="8494" y="2153"/>
                  </a:cubicBezTo>
                  <a:close/>
                  <a:moveTo>
                    <a:pt x="4028" y="461"/>
                  </a:moveTo>
                  <a:cubicBezTo>
                    <a:pt x="3614" y="921"/>
                    <a:pt x="3280" y="1698"/>
                    <a:pt x="3079" y="2671"/>
                  </a:cubicBezTo>
                  <a:cubicBezTo>
                    <a:pt x="2164" y="2516"/>
                    <a:pt x="1583" y="2280"/>
                    <a:pt x="1306" y="2153"/>
                  </a:cubicBezTo>
                  <a:cubicBezTo>
                    <a:pt x="1968" y="1290"/>
                    <a:pt x="2924" y="674"/>
                    <a:pt x="4028" y="461"/>
                  </a:cubicBezTo>
                  <a:close/>
                  <a:moveTo>
                    <a:pt x="1306" y="7655"/>
                  </a:moveTo>
                  <a:cubicBezTo>
                    <a:pt x="1583" y="7528"/>
                    <a:pt x="2164" y="7286"/>
                    <a:pt x="3079" y="7137"/>
                  </a:cubicBezTo>
                  <a:cubicBezTo>
                    <a:pt x="3280" y="8109"/>
                    <a:pt x="3614" y="8886"/>
                    <a:pt x="4028" y="9346"/>
                  </a:cubicBezTo>
                  <a:cubicBezTo>
                    <a:pt x="2924" y="9128"/>
                    <a:pt x="1968" y="8512"/>
                    <a:pt x="1306" y="7655"/>
                  </a:cubicBezTo>
                  <a:close/>
                  <a:moveTo>
                    <a:pt x="5772" y="9346"/>
                  </a:moveTo>
                  <a:cubicBezTo>
                    <a:pt x="6187" y="8886"/>
                    <a:pt x="6520" y="8109"/>
                    <a:pt x="6722" y="7137"/>
                  </a:cubicBezTo>
                  <a:cubicBezTo>
                    <a:pt x="7637" y="7286"/>
                    <a:pt x="8218" y="7528"/>
                    <a:pt x="8494" y="7655"/>
                  </a:cubicBezTo>
                  <a:cubicBezTo>
                    <a:pt x="7832" y="8512"/>
                    <a:pt x="6877" y="9128"/>
                    <a:pt x="5772" y="93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62"/>
            <p:cNvSpPr/>
            <p:nvPr/>
          </p:nvSpPr>
          <p:spPr>
            <a:xfrm>
              <a:off x="6152662" y="1867648"/>
              <a:ext cx="353754" cy="450759"/>
            </a:xfrm>
            <a:custGeom>
              <a:avLst/>
              <a:gdLst/>
              <a:ahLst/>
              <a:cxnLst/>
              <a:rect l="l" t="t" r="r" b="b"/>
              <a:pathLst>
                <a:path w="6821" h="8691" extrusionOk="0">
                  <a:moveTo>
                    <a:pt x="6164" y="3540"/>
                  </a:moveTo>
                  <a:lnTo>
                    <a:pt x="5830" y="3540"/>
                  </a:lnTo>
                  <a:lnTo>
                    <a:pt x="5830" y="2418"/>
                  </a:lnTo>
                  <a:cubicBezTo>
                    <a:pt x="5830" y="1077"/>
                    <a:pt x="4748" y="1"/>
                    <a:pt x="3413" y="1"/>
                  </a:cubicBezTo>
                  <a:cubicBezTo>
                    <a:pt x="2078" y="1"/>
                    <a:pt x="991" y="1088"/>
                    <a:pt x="991" y="2418"/>
                  </a:cubicBezTo>
                  <a:lnTo>
                    <a:pt x="991" y="3540"/>
                  </a:lnTo>
                  <a:lnTo>
                    <a:pt x="663" y="3540"/>
                  </a:lnTo>
                  <a:cubicBezTo>
                    <a:pt x="294" y="3540"/>
                    <a:pt x="1" y="3833"/>
                    <a:pt x="1" y="4202"/>
                  </a:cubicBezTo>
                  <a:lnTo>
                    <a:pt x="1" y="8029"/>
                  </a:lnTo>
                  <a:cubicBezTo>
                    <a:pt x="1" y="8397"/>
                    <a:pt x="294" y="8690"/>
                    <a:pt x="663" y="8690"/>
                  </a:cubicBezTo>
                  <a:lnTo>
                    <a:pt x="6158" y="8690"/>
                  </a:lnTo>
                  <a:cubicBezTo>
                    <a:pt x="6521" y="8690"/>
                    <a:pt x="6820" y="8397"/>
                    <a:pt x="6820" y="8029"/>
                  </a:cubicBezTo>
                  <a:lnTo>
                    <a:pt x="6820" y="4202"/>
                  </a:lnTo>
                  <a:cubicBezTo>
                    <a:pt x="6820" y="3833"/>
                    <a:pt x="6521" y="3540"/>
                    <a:pt x="6164" y="3540"/>
                  </a:cubicBezTo>
                  <a:close/>
                  <a:moveTo>
                    <a:pt x="1273" y="2418"/>
                  </a:moveTo>
                  <a:cubicBezTo>
                    <a:pt x="1273" y="1238"/>
                    <a:pt x="2234" y="277"/>
                    <a:pt x="3413" y="277"/>
                  </a:cubicBezTo>
                  <a:cubicBezTo>
                    <a:pt x="4593" y="277"/>
                    <a:pt x="5560" y="1238"/>
                    <a:pt x="5560" y="2418"/>
                  </a:cubicBezTo>
                  <a:lnTo>
                    <a:pt x="5560" y="3540"/>
                  </a:lnTo>
                  <a:lnTo>
                    <a:pt x="4818" y="3540"/>
                  </a:lnTo>
                  <a:lnTo>
                    <a:pt x="4818" y="2418"/>
                  </a:lnTo>
                  <a:cubicBezTo>
                    <a:pt x="4818" y="1647"/>
                    <a:pt x="4190" y="1014"/>
                    <a:pt x="3413" y="1014"/>
                  </a:cubicBezTo>
                  <a:cubicBezTo>
                    <a:pt x="2636" y="1014"/>
                    <a:pt x="2015" y="1641"/>
                    <a:pt x="2015" y="2418"/>
                  </a:cubicBezTo>
                  <a:lnTo>
                    <a:pt x="2015" y="3540"/>
                  </a:lnTo>
                  <a:lnTo>
                    <a:pt x="1273" y="3540"/>
                  </a:lnTo>
                  <a:close/>
                  <a:moveTo>
                    <a:pt x="4536" y="3540"/>
                  </a:moveTo>
                  <a:lnTo>
                    <a:pt x="2285" y="3540"/>
                  </a:lnTo>
                  <a:lnTo>
                    <a:pt x="2285" y="2418"/>
                  </a:lnTo>
                  <a:cubicBezTo>
                    <a:pt x="2285" y="1796"/>
                    <a:pt x="2792" y="1290"/>
                    <a:pt x="3413" y="1290"/>
                  </a:cubicBezTo>
                  <a:cubicBezTo>
                    <a:pt x="4041" y="1290"/>
                    <a:pt x="4541" y="1790"/>
                    <a:pt x="4541" y="2418"/>
                  </a:cubicBezTo>
                  <a:lnTo>
                    <a:pt x="4541" y="3540"/>
                  </a:lnTo>
                  <a:close/>
                  <a:moveTo>
                    <a:pt x="6544" y="8029"/>
                  </a:moveTo>
                  <a:cubicBezTo>
                    <a:pt x="6544" y="8236"/>
                    <a:pt x="6371" y="8408"/>
                    <a:pt x="6164" y="8408"/>
                  </a:cubicBezTo>
                  <a:lnTo>
                    <a:pt x="663" y="8408"/>
                  </a:lnTo>
                  <a:cubicBezTo>
                    <a:pt x="450" y="8408"/>
                    <a:pt x="277" y="8236"/>
                    <a:pt x="277" y="8029"/>
                  </a:cubicBezTo>
                  <a:lnTo>
                    <a:pt x="277" y="4202"/>
                  </a:lnTo>
                  <a:cubicBezTo>
                    <a:pt x="277" y="3995"/>
                    <a:pt x="450" y="3822"/>
                    <a:pt x="663" y="3822"/>
                  </a:cubicBezTo>
                  <a:lnTo>
                    <a:pt x="991" y="3822"/>
                  </a:lnTo>
                  <a:lnTo>
                    <a:pt x="2285" y="3822"/>
                  </a:lnTo>
                  <a:lnTo>
                    <a:pt x="4536" y="3822"/>
                  </a:lnTo>
                  <a:lnTo>
                    <a:pt x="5830" y="3822"/>
                  </a:lnTo>
                  <a:lnTo>
                    <a:pt x="6164" y="3822"/>
                  </a:lnTo>
                  <a:cubicBezTo>
                    <a:pt x="6371" y="3822"/>
                    <a:pt x="6544" y="3995"/>
                    <a:pt x="6544" y="42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62"/>
            <p:cNvSpPr/>
            <p:nvPr/>
          </p:nvSpPr>
          <p:spPr>
            <a:xfrm>
              <a:off x="6250267" y="2119858"/>
              <a:ext cx="168398" cy="128107"/>
            </a:xfrm>
            <a:custGeom>
              <a:avLst/>
              <a:gdLst/>
              <a:ahLst/>
              <a:cxnLst/>
              <a:rect l="l" t="t" r="r" b="b"/>
              <a:pathLst>
                <a:path w="3247" h="2470" extrusionOk="0">
                  <a:moveTo>
                    <a:pt x="3246" y="317"/>
                  </a:moveTo>
                  <a:lnTo>
                    <a:pt x="1491" y="2469"/>
                  </a:lnTo>
                  <a:lnTo>
                    <a:pt x="1" y="1013"/>
                  </a:lnTo>
                  <a:lnTo>
                    <a:pt x="340" y="662"/>
                  </a:lnTo>
                  <a:lnTo>
                    <a:pt x="1445" y="1744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62"/>
            <p:cNvSpPr/>
            <p:nvPr/>
          </p:nvSpPr>
          <p:spPr>
            <a:xfrm>
              <a:off x="7858367" y="3112569"/>
              <a:ext cx="308945" cy="394018"/>
            </a:xfrm>
            <a:custGeom>
              <a:avLst/>
              <a:gdLst/>
              <a:ahLst/>
              <a:cxnLst/>
              <a:rect l="l" t="t" r="r" b="b"/>
              <a:pathLst>
                <a:path w="5957" h="7597" extrusionOk="0">
                  <a:moveTo>
                    <a:pt x="5381" y="3102"/>
                  </a:moveTo>
                  <a:lnTo>
                    <a:pt x="5094" y="3102"/>
                  </a:lnTo>
                  <a:lnTo>
                    <a:pt x="5094" y="2118"/>
                  </a:lnTo>
                  <a:cubicBezTo>
                    <a:pt x="5094" y="950"/>
                    <a:pt x="4144" y="0"/>
                    <a:pt x="2976" y="0"/>
                  </a:cubicBezTo>
                  <a:cubicBezTo>
                    <a:pt x="1813" y="0"/>
                    <a:pt x="864" y="950"/>
                    <a:pt x="864" y="2118"/>
                  </a:cubicBezTo>
                  <a:lnTo>
                    <a:pt x="864" y="3102"/>
                  </a:lnTo>
                  <a:lnTo>
                    <a:pt x="576" y="3102"/>
                  </a:lnTo>
                  <a:cubicBezTo>
                    <a:pt x="260" y="3102"/>
                    <a:pt x="1" y="3361"/>
                    <a:pt x="1" y="3677"/>
                  </a:cubicBezTo>
                  <a:lnTo>
                    <a:pt x="1" y="7021"/>
                  </a:lnTo>
                  <a:cubicBezTo>
                    <a:pt x="1" y="7337"/>
                    <a:pt x="260" y="7596"/>
                    <a:pt x="576" y="7596"/>
                  </a:cubicBezTo>
                  <a:lnTo>
                    <a:pt x="5370" y="7596"/>
                  </a:lnTo>
                  <a:cubicBezTo>
                    <a:pt x="5686" y="7596"/>
                    <a:pt x="5945" y="7337"/>
                    <a:pt x="5945" y="7021"/>
                  </a:cubicBezTo>
                  <a:lnTo>
                    <a:pt x="5945" y="3677"/>
                  </a:lnTo>
                  <a:cubicBezTo>
                    <a:pt x="5957" y="3361"/>
                    <a:pt x="5698" y="3102"/>
                    <a:pt x="5381" y="3102"/>
                  </a:cubicBezTo>
                  <a:close/>
                  <a:moveTo>
                    <a:pt x="1105" y="2124"/>
                  </a:moveTo>
                  <a:cubicBezTo>
                    <a:pt x="1105" y="1093"/>
                    <a:pt x="1946" y="253"/>
                    <a:pt x="2976" y="253"/>
                  </a:cubicBezTo>
                  <a:cubicBezTo>
                    <a:pt x="4006" y="253"/>
                    <a:pt x="4846" y="1093"/>
                    <a:pt x="4846" y="2124"/>
                  </a:cubicBezTo>
                  <a:lnTo>
                    <a:pt x="4846" y="3108"/>
                  </a:lnTo>
                  <a:lnTo>
                    <a:pt x="4202" y="3108"/>
                  </a:lnTo>
                  <a:lnTo>
                    <a:pt x="4202" y="2124"/>
                  </a:lnTo>
                  <a:cubicBezTo>
                    <a:pt x="4202" y="1450"/>
                    <a:pt x="3655" y="904"/>
                    <a:pt x="2976" y="904"/>
                  </a:cubicBezTo>
                  <a:cubicBezTo>
                    <a:pt x="2302" y="904"/>
                    <a:pt x="1756" y="1450"/>
                    <a:pt x="1756" y="2124"/>
                  </a:cubicBezTo>
                  <a:lnTo>
                    <a:pt x="1756" y="3108"/>
                  </a:lnTo>
                  <a:lnTo>
                    <a:pt x="1105" y="3108"/>
                  </a:lnTo>
                  <a:close/>
                  <a:moveTo>
                    <a:pt x="3960" y="3102"/>
                  </a:moveTo>
                  <a:lnTo>
                    <a:pt x="1997" y="3102"/>
                  </a:lnTo>
                  <a:lnTo>
                    <a:pt x="1997" y="2118"/>
                  </a:lnTo>
                  <a:cubicBezTo>
                    <a:pt x="1997" y="1577"/>
                    <a:pt x="2435" y="1128"/>
                    <a:pt x="2982" y="1128"/>
                  </a:cubicBezTo>
                  <a:cubicBezTo>
                    <a:pt x="3523" y="1128"/>
                    <a:pt x="3966" y="1571"/>
                    <a:pt x="3966" y="2118"/>
                  </a:cubicBezTo>
                  <a:lnTo>
                    <a:pt x="3966" y="3102"/>
                  </a:lnTo>
                  <a:close/>
                  <a:moveTo>
                    <a:pt x="5709" y="7021"/>
                  </a:moveTo>
                  <a:cubicBezTo>
                    <a:pt x="5709" y="7211"/>
                    <a:pt x="5560" y="7355"/>
                    <a:pt x="5381" y="7355"/>
                  </a:cubicBezTo>
                  <a:lnTo>
                    <a:pt x="582" y="7355"/>
                  </a:lnTo>
                  <a:cubicBezTo>
                    <a:pt x="392" y="7355"/>
                    <a:pt x="248" y="7205"/>
                    <a:pt x="248" y="7021"/>
                  </a:cubicBezTo>
                  <a:lnTo>
                    <a:pt x="248" y="3677"/>
                  </a:lnTo>
                  <a:cubicBezTo>
                    <a:pt x="248" y="3487"/>
                    <a:pt x="403" y="3344"/>
                    <a:pt x="582" y="3344"/>
                  </a:cubicBezTo>
                  <a:lnTo>
                    <a:pt x="870" y="3344"/>
                  </a:lnTo>
                  <a:lnTo>
                    <a:pt x="1997" y="3344"/>
                  </a:lnTo>
                  <a:lnTo>
                    <a:pt x="3960" y="3344"/>
                  </a:lnTo>
                  <a:lnTo>
                    <a:pt x="5094" y="3344"/>
                  </a:lnTo>
                  <a:lnTo>
                    <a:pt x="5381" y="3344"/>
                  </a:lnTo>
                  <a:cubicBezTo>
                    <a:pt x="5565" y="3344"/>
                    <a:pt x="5709" y="3499"/>
                    <a:pt x="5709" y="36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2"/>
            <p:cNvSpPr/>
            <p:nvPr/>
          </p:nvSpPr>
          <p:spPr>
            <a:xfrm>
              <a:off x="7943421" y="3334024"/>
              <a:ext cx="146926" cy="111043"/>
            </a:xfrm>
            <a:custGeom>
              <a:avLst/>
              <a:gdLst/>
              <a:ahLst/>
              <a:cxnLst/>
              <a:rect l="l" t="t" r="r" b="b"/>
              <a:pathLst>
                <a:path w="2833" h="2141" extrusionOk="0">
                  <a:moveTo>
                    <a:pt x="2832" y="265"/>
                  </a:moveTo>
                  <a:lnTo>
                    <a:pt x="1301" y="2141"/>
                  </a:lnTo>
                  <a:lnTo>
                    <a:pt x="1" y="875"/>
                  </a:lnTo>
                  <a:lnTo>
                    <a:pt x="294" y="576"/>
                  </a:lnTo>
                  <a:lnTo>
                    <a:pt x="1255" y="1514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2"/>
            <p:cNvSpPr/>
            <p:nvPr/>
          </p:nvSpPr>
          <p:spPr>
            <a:xfrm>
              <a:off x="6230248" y="1924386"/>
              <a:ext cx="1742165" cy="1871756"/>
            </a:xfrm>
            <a:custGeom>
              <a:avLst/>
              <a:gdLst/>
              <a:ahLst/>
              <a:cxnLst/>
              <a:rect l="l" t="t" r="r" b="b"/>
              <a:pathLst>
                <a:path w="33592" h="36089" extrusionOk="0">
                  <a:moveTo>
                    <a:pt x="16794" y="0"/>
                  </a:moveTo>
                  <a:cubicBezTo>
                    <a:pt x="9928" y="351"/>
                    <a:pt x="4075" y="5059"/>
                    <a:pt x="1" y="9426"/>
                  </a:cubicBezTo>
                  <a:cubicBezTo>
                    <a:pt x="1" y="34604"/>
                    <a:pt x="16794" y="36089"/>
                    <a:pt x="16794" y="36089"/>
                  </a:cubicBezTo>
                  <a:cubicBezTo>
                    <a:pt x="16794" y="36089"/>
                    <a:pt x="33592" y="34604"/>
                    <a:pt x="33592" y="9426"/>
                  </a:cubicBezTo>
                  <a:cubicBezTo>
                    <a:pt x="29512" y="5059"/>
                    <a:pt x="23665" y="351"/>
                    <a:pt x="16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62"/>
            <p:cNvSpPr/>
            <p:nvPr/>
          </p:nvSpPr>
          <p:spPr>
            <a:xfrm>
              <a:off x="6250267" y="1946428"/>
              <a:ext cx="1702179" cy="1828241"/>
            </a:xfrm>
            <a:custGeom>
              <a:avLst/>
              <a:gdLst/>
              <a:ahLst/>
              <a:cxnLst/>
              <a:rect l="l" t="t" r="r" b="b"/>
              <a:pathLst>
                <a:path w="32821" h="35250" extrusionOk="0">
                  <a:moveTo>
                    <a:pt x="16408" y="1"/>
                  </a:moveTo>
                  <a:cubicBezTo>
                    <a:pt x="9697" y="346"/>
                    <a:pt x="3989" y="4933"/>
                    <a:pt x="1" y="9209"/>
                  </a:cubicBezTo>
                  <a:cubicBezTo>
                    <a:pt x="1" y="33793"/>
                    <a:pt x="16408" y="35249"/>
                    <a:pt x="16408" y="35249"/>
                  </a:cubicBezTo>
                  <a:cubicBezTo>
                    <a:pt x="16408" y="35249"/>
                    <a:pt x="32820" y="33793"/>
                    <a:pt x="32820" y="9209"/>
                  </a:cubicBezTo>
                  <a:cubicBezTo>
                    <a:pt x="28826" y="4933"/>
                    <a:pt x="23112" y="340"/>
                    <a:pt x="1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62"/>
            <p:cNvSpPr/>
            <p:nvPr/>
          </p:nvSpPr>
          <p:spPr>
            <a:xfrm>
              <a:off x="6269975" y="1967640"/>
              <a:ext cx="1662452" cy="1785816"/>
            </a:xfrm>
            <a:custGeom>
              <a:avLst/>
              <a:gdLst/>
              <a:ahLst/>
              <a:cxnLst/>
              <a:rect l="l" t="t" r="r" b="b"/>
              <a:pathLst>
                <a:path w="32055" h="34432" extrusionOk="0">
                  <a:moveTo>
                    <a:pt x="16028" y="1"/>
                  </a:moveTo>
                  <a:cubicBezTo>
                    <a:pt x="9479" y="334"/>
                    <a:pt x="3896" y="4823"/>
                    <a:pt x="0" y="8995"/>
                  </a:cubicBezTo>
                  <a:cubicBezTo>
                    <a:pt x="0" y="33010"/>
                    <a:pt x="16028" y="34432"/>
                    <a:pt x="16028" y="34432"/>
                  </a:cubicBezTo>
                  <a:cubicBezTo>
                    <a:pt x="16028" y="34432"/>
                    <a:pt x="32055" y="33004"/>
                    <a:pt x="32055" y="8995"/>
                  </a:cubicBezTo>
                  <a:cubicBezTo>
                    <a:pt x="28159" y="4823"/>
                    <a:pt x="22582" y="329"/>
                    <a:pt x="16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62"/>
            <p:cNvSpPr/>
            <p:nvPr/>
          </p:nvSpPr>
          <p:spPr>
            <a:xfrm>
              <a:off x="6329669" y="2031535"/>
              <a:ext cx="1543065" cy="1657761"/>
            </a:xfrm>
            <a:custGeom>
              <a:avLst/>
              <a:gdLst/>
              <a:ahLst/>
              <a:cxnLst/>
              <a:rect l="l" t="t" r="r" b="b"/>
              <a:pathLst>
                <a:path w="29753" h="31963" extrusionOk="0">
                  <a:moveTo>
                    <a:pt x="14877" y="0"/>
                  </a:moveTo>
                  <a:cubicBezTo>
                    <a:pt x="8794" y="311"/>
                    <a:pt x="3614" y="4472"/>
                    <a:pt x="0" y="8345"/>
                  </a:cubicBezTo>
                  <a:cubicBezTo>
                    <a:pt x="0" y="30644"/>
                    <a:pt x="14877" y="31962"/>
                    <a:pt x="14877" y="31962"/>
                  </a:cubicBezTo>
                  <a:cubicBezTo>
                    <a:pt x="14877" y="31962"/>
                    <a:pt x="29753" y="30644"/>
                    <a:pt x="29753" y="8345"/>
                  </a:cubicBezTo>
                  <a:cubicBezTo>
                    <a:pt x="26139" y="4483"/>
                    <a:pt x="20959" y="311"/>
                    <a:pt x="148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62"/>
            <p:cNvSpPr/>
            <p:nvPr/>
          </p:nvSpPr>
          <p:spPr>
            <a:xfrm>
              <a:off x="6349947" y="2053577"/>
              <a:ext cx="1502820" cy="1613935"/>
            </a:xfrm>
            <a:custGeom>
              <a:avLst/>
              <a:gdLst/>
              <a:ahLst/>
              <a:cxnLst/>
              <a:rect l="l" t="t" r="r" b="b"/>
              <a:pathLst>
                <a:path w="28977" h="31118" extrusionOk="0">
                  <a:moveTo>
                    <a:pt x="14486" y="1"/>
                  </a:moveTo>
                  <a:cubicBezTo>
                    <a:pt x="8570" y="300"/>
                    <a:pt x="3523" y="4357"/>
                    <a:pt x="1" y="8127"/>
                  </a:cubicBezTo>
                  <a:cubicBezTo>
                    <a:pt x="1" y="29840"/>
                    <a:pt x="14486" y="31117"/>
                    <a:pt x="14486" y="31117"/>
                  </a:cubicBezTo>
                  <a:cubicBezTo>
                    <a:pt x="14486" y="31117"/>
                    <a:pt x="28976" y="29828"/>
                    <a:pt x="28976" y="8127"/>
                  </a:cubicBezTo>
                  <a:cubicBezTo>
                    <a:pt x="25449" y="4357"/>
                    <a:pt x="20407" y="300"/>
                    <a:pt x="14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62"/>
            <p:cNvSpPr/>
            <p:nvPr/>
          </p:nvSpPr>
          <p:spPr>
            <a:xfrm>
              <a:off x="6386359" y="2092683"/>
              <a:ext cx="716975" cy="1535723"/>
            </a:xfrm>
            <a:custGeom>
              <a:avLst/>
              <a:gdLst/>
              <a:ahLst/>
              <a:cxnLst/>
              <a:rect l="l" t="t" r="r" b="b"/>
              <a:pathLst>
                <a:path w="13784" h="29610" extrusionOk="0">
                  <a:moveTo>
                    <a:pt x="13784" y="29609"/>
                  </a:moveTo>
                  <a:lnTo>
                    <a:pt x="13784" y="1"/>
                  </a:lnTo>
                  <a:cubicBezTo>
                    <a:pt x="8155" y="289"/>
                    <a:pt x="3356" y="4144"/>
                    <a:pt x="12" y="7735"/>
                  </a:cubicBezTo>
                  <a:cubicBezTo>
                    <a:pt x="1" y="28384"/>
                    <a:pt x="13784" y="29609"/>
                    <a:pt x="13784" y="296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62"/>
            <p:cNvSpPr/>
            <p:nvPr/>
          </p:nvSpPr>
          <p:spPr>
            <a:xfrm>
              <a:off x="7098763" y="2092683"/>
              <a:ext cx="716973" cy="1535723"/>
            </a:xfrm>
            <a:custGeom>
              <a:avLst/>
              <a:gdLst/>
              <a:ahLst/>
              <a:cxnLst/>
              <a:rect l="l" t="t" r="r" b="b"/>
              <a:pathLst>
                <a:path w="13778" h="29610" extrusionOk="0">
                  <a:moveTo>
                    <a:pt x="1" y="29609"/>
                  </a:moveTo>
                  <a:lnTo>
                    <a:pt x="1" y="1"/>
                  </a:lnTo>
                  <a:cubicBezTo>
                    <a:pt x="5635" y="289"/>
                    <a:pt x="10434" y="4144"/>
                    <a:pt x="13778" y="7735"/>
                  </a:cubicBezTo>
                  <a:cubicBezTo>
                    <a:pt x="13778" y="28384"/>
                    <a:pt x="1" y="29609"/>
                    <a:pt x="1" y="296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62"/>
            <p:cNvSpPr/>
            <p:nvPr/>
          </p:nvSpPr>
          <p:spPr>
            <a:xfrm>
              <a:off x="6799128" y="2718254"/>
              <a:ext cx="604146" cy="491058"/>
            </a:xfrm>
            <a:custGeom>
              <a:avLst/>
              <a:gdLst/>
              <a:ahLst/>
              <a:cxnLst/>
              <a:rect l="l" t="t" r="r" b="b"/>
              <a:pathLst>
                <a:path w="11649" h="9468" extrusionOk="0">
                  <a:moveTo>
                    <a:pt x="10860" y="9468"/>
                  </a:moveTo>
                  <a:lnTo>
                    <a:pt x="783" y="9468"/>
                  </a:lnTo>
                  <a:cubicBezTo>
                    <a:pt x="352" y="9468"/>
                    <a:pt x="1" y="9117"/>
                    <a:pt x="1" y="8685"/>
                  </a:cubicBezTo>
                  <a:lnTo>
                    <a:pt x="1" y="784"/>
                  </a:lnTo>
                  <a:cubicBezTo>
                    <a:pt x="1" y="352"/>
                    <a:pt x="352" y="1"/>
                    <a:pt x="783" y="1"/>
                  </a:cubicBezTo>
                  <a:lnTo>
                    <a:pt x="10860" y="1"/>
                  </a:lnTo>
                  <a:cubicBezTo>
                    <a:pt x="11292" y="1"/>
                    <a:pt x="11648" y="352"/>
                    <a:pt x="11648" y="784"/>
                  </a:cubicBezTo>
                  <a:lnTo>
                    <a:pt x="11648" y="8685"/>
                  </a:lnTo>
                  <a:cubicBezTo>
                    <a:pt x="11648" y="9117"/>
                    <a:pt x="11292" y="9468"/>
                    <a:pt x="10860" y="94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62"/>
            <p:cNvSpPr/>
            <p:nvPr/>
          </p:nvSpPr>
          <p:spPr>
            <a:xfrm>
              <a:off x="6835276" y="2747816"/>
              <a:ext cx="532161" cy="432243"/>
            </a:xfrm>
            <a:custGeom>
              <a:avLst/>
              <a:gdLst/>
              <a:ahLst/>
              <a:cxnLst/>
              <a:rect l="l" t="t" r="r" b="b"/>
              <a:pathLst>
                <a:path w="10261" h="8334" extrusionOk="0">
                  <a:moveTo>
                    <a:pt x="9570" y="8334"/>
                  </a:moveTo>
                  <a:lnTo>
                    <a:pt x="691" y="8334"/>
                  </a:lnTo>
                  <a:cubicBezTo>
                    <a:pt x="311" y="8334"/>
                    <a:pt x="0" y="8029"/>
                    <a:pt x="0" y="7643"/>
                  </a:cubicBezTo>
                  <a:lnTo>
                    <a:pt x="0" y="691"/>
                  </a:lnTo>
                  <a:cubicBezTo>
                    <a:pt x="0" y="306"/>
                    <a:pt x="311" y="1"/>
                    <a:pt x="691" y="1"/>
                  </a:cubicBezTo>
                  <a:lnTo>
                    <a:pt x="9570" y="1"/>
                  </a:lnTo>
                  <a:cubicBezTo>
                    <a:pt x="9950" y="1"/>
                    <a:pt x="10261" y="306"/>
                    <a:pt x="10261" y="691"/>
                  </a:cubicBezTo>
                  <a:lnTo>
                    <a:pt x="10261" y="7643"/>
                  </a:lnTo>
                  <a:cubicBezTo>
                    <a:pt x="10249" y="8029"/>
                    <a:pt x="9950" y="8334"/>
                    <a:pt x="9570" y="8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62"/>
            <p:cNvSpPr/>
            <p:nvPr/>
          </p:nvSpPr>
          <p:spPr>
            <a:xfrm>
              <a:off x="6900623" y="2421027"/>
              <a:ext cx="402972" cy="297290"/>
            </a:xfrm>
            <a:custGeom>
              <a:avLst/>
              <a:gdLst/>
              <a:ahLst/>
              <a:cxnLst/>
              <a:rect l="l" t="t" r="r" b="b"/>
              <a:pathLst>
                <a:path w="7770" h="5732" extrusionOk="0">
                  <a:moveTo>
                    <a:pt x="7752" y="5732"/>
                  </a:moveTo>
                  <a:lnTo>
                    <a:pt x="6308" y="5732"/>
                  </a:lnTo>
                  <a:lnTo>
                    <a:pt x="6308" y="3885"/>
                  </a:lnTo>
                  <a:cubicBezTo>
                    <a:pt x="6308" y="2538"/>
                    <a:pt x="5214" y="1450"/>
                    <a:pt x="3879" y="1450"/>
                  </a:cubicBezTo>
                  <a:cubicBezTo>
                    <a:pt x="2532" y="1450"/>
                    <a:pt x="1445" y="2544"/>
                    <a:pt x="1445" y="3885"/>
                  </a:cubicBezTo>
                  <a:lnTo>
                    <a:pt x="1445" y="5732"/>
                  </a:lnTo>
                  <a:lnTo>
                    <a:pt x="0" y="5732"/>
                  </a:lnTo>
                  <a:lnTo>
                    <a:pt x="0" y="3885"/>
                  </a:lnTo>
                  <a:cubicBezTo>
                    <a:pt x="0" y="1738"/>
                    <a:pt x="1738" y="0"/>
                    <a:pt x="3885" y="0"/>
                  </a:cubicBezTo>
                  <a:cubicBezTo>
                    <a:pt x="6026" y="0"/>
                    <a:pt x="7769" y="1738"/>
                    <a:pt x="7769" y="3885"/>
                  </a:cubicBezTo>
                  <a:lnTo>
                    <a:pt x="7769" y="57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62"/>
            <p:cNvSpPr/>
            <p:nvPr/>
          </p:nvSpPr>
          <p:spPr>
            <a:xfrm>
              <a:off x="6954923" y="2836450"/>
              <a:ext cx="311642" cy="265393"/>
            </a:xfrm>
            <a:custGeom>
              <a:avLst/>
              <a:gdLst/>
              <a:ahLst/>
              <a:cxnLst/>
              <a:rect l="l" t="t" r="r" b="b"/>
              <a:pathLst>
                <a:path w="6009" h="5117" extrusionOk="0">
                  <a:moveTo>
                    <a:pt x="2694" y="5117"/>
                  </a:moveTo>
                  <a:lnTo>
                    <a:pt x="1" y="2637"/>
                  </a:lnTo>
                  <a:lnTo>
                    <a:pt x="1123" y="1422"/>
                  </a:lnTo>
                  <a:lnTo>
                    <a:pt x="2521" y="2706"/>
                  </a:lnTo>
                  <a:lnTo>
                    <a:pt x="4720" y="1"/>
                  </a:lnTo>
                  <a:lnTo>
                    <a:pt x="6009" y="10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62"/>
            <p:cNvSpPr/>
            <p:nvPr/>
          </p:nvSpPr>
          <p:spPr>
            <a:xfrm>
              <a:off x="7402340" y="2515314"/>
              <a:ext cx="493679" cy="493755"/>
            </a:xfrm>
            <a:custGeom>
              <a:avLst/>
              <a:gdLst/>
              <a:ahLst/>
              <a:cxnLst/>
              <a:rect l="l" t="t" r="r" b="b"/>
              <a:pathLst>
                <a:path w="9519" h="9520" extrusionOk="0">
                  <a:moveTo>
                    <a:pt x="9432" y="7689"/>
                  </a:moveTo>
                  <a:lnTo>
                    <a:pt x="7689" y="9433"/>
                  </a:lnTo>
                  <a:cubicBezTo>
                    <a:pt x="7602" y="9519"/>
                    <a:pt x="7458" y="9519"/>
                    <a:pt x="7366" y="9433"/>
                  </a:cubicBezTo>
                  <a:lnTo>
                    <a:pt x="4265" y="6331"/>
                  </a:lnTo>
                  <a:lnTo>
                    <a:pt x="3027" y="7994"/>
                  </a:lnTo>
                  <a:cubicBezTo>
                    <a:pt x="2981" y="8057"/>
                    <a:pt x="2895" y="8092"/>
                    <a:pt x="2814" y="8080"/>
                  </a:cubicBezTo>
                  <a:cubicBezTo>
                    <a:pt x="2728" y="8063"/>
                    <a:pt x="2665" y="8006"/>
                    <a:pt x="2636" y="7931"/>
                  </a:cubicBezTo>
                  <a:lnTo>
                    <a:pt x="29" y="317"/>
                  </a:lnTo>
                  <a:cubicBezTo>
                    <a:pt x="0" y="237"/>
                    <a:pt x="23" y="144"/>
                    <a:pt x="87" y="81"/>
                  </a:cubicBezTo>
                  <a:cubicBezTo>
                    <a:pt x="150" y="18"/>
                    <a:pt x="236" y="1"/>
                    <a:pt x="322" y="24"/>
                  </a:cubicBezTo>
                  <a:lnTo>
                    <a:pt x="7936" y="2636"/>
                  </a:lnTo>
                  <a:cubicBezTo>
                    <a:pt x="8017" y="2665"/>
                    <a:pt x="8074" y="2728"/>
                    <a:pt x="8086" y="2815"/>
                  </a:cubicBezTo>
                  <a:cubicBezTo>
                    <a:pt x="8103" y="2901"/>
                    <a:pt x="8063" y="2982"/>
                    <a:pt x="7999" y="3028"/>
                  </a:cubicBezTo>
                  <a:lnTo>
                    <a:pt x="6336" y="4265"/>
                  </a:lnTo>
                  <a:lnTo>
                    <a:pt x="9438" y="7367"/>
                  </a:lnTo>
                  <a:cubicBezTo>
                    <a:pt x="9519" y="7459"/>
                    <a:pt x="9519" y="7603"/>
                    <a:pt x="9432" y="7689"/>
                  </a:cubicBezTo>
                  <a:close/>
                  <a:moveTo>
                    <a:pt x="7533" y="8949"/>
                  </a:moveTo>
                  <a:lnTo>
                    <a:pt x="8949" y="7534"/>
                  </a:lnTo>
                  <a:lnTo>
                    <a:pt x="5818" y="4403"/>
                  </a:lnTo>
                  <a:cubicBezTo>
                    <a:pt x="5778" y="4357"/>
                    <a:pt x="5749" y="4294"/>
                    <a:pt x="5755" y="4225"/>
                  </a:cubicBezTo>
                  <a:cubicBezTo>
                    <a:pt x="5761" y="4161"/>
                    <a:pt x="5790" y="4092"/>
                    <a:pt x="5847" y="4058"/>
                  </a:cubicBezTo>
                  <a:lnTo>
                    <a:pt x="7372" y="2918"/>
                  </a:lnTo>
                  <a:lnTo>
                    <a:pt x="604" y="605"/>
                  </a:lnTo>
                  <a:lnTo>
                    <a:pt x="2918" y="7373"/>
                  </a:lnTo>
                  <a:lnTo>
                    <a:pt x="4057" y="5848"/>
                  </a:lnTo>
                  <a:cubicBezTo>
                    <a:pt x="4092" y="5796"/>
                    <a:pt x="4161" y="5761"/>
                    <a:pt x="4224" y="5755"/>
                  </a:cubicBezTo>
                  <a:cubicBezTo>
                    <a:pt x="4288" y="5750"/>
                    <a:pt x="4351" y="5778"/>
                    <a:pt x="4403" y="58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70" name="Google Shape;1270;p62"/>
          <p:cNvCxnSpPr>
            <a:cxnSpLocks/>
          </p:cNvCxnSpPr>
          <p:nvPr/>
        </p:nvCxnSpPr>
        <p:spPr>
          <a:xfrm rot="5400000">
            <a:off x="4087625" y="873130"/>
            <a:ext cx="2655000" cy="145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1" name="Google Shape;1271;p62"/>
          <p:cNvCxnSpPr/>
          <p:nvPr/>
        </p:nvCxnSpPr>
        <p:spPr>
          <a:xfrm rot="5400000">
            <a:off x="4240025" y="1101730"/>
            <a:ext cx="2655000" cy="145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Macintosh PowerPoint</Application>
  <PresentationFormat>On-screen Show (16:9)</PresentationFormat>
  <Paragraphs>289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Consolas</vt:lpstr>
      <vt:lpstr>Sora</vt:lpstr>
      <vt:lpstr>Arial,Sans-Serif</vt:lpstr>
      <vt:lpstr>Calibri</vt:lpstr>
      <vt:lpstr>Wingdings</vt:lpstr>
      <vt:lpstr>Lato</vt:lpstr>
      <vt:lpstr>AI Essentials Workshop by Slidesgo</vt:lpstr>
      <vt:lpstr>EGT 307 Project</vt:lpstr>
      <vt:lpstr>Table of contents</vt:lpstr>
      <vt:lpstr>Project Objective</vt:lpstr>
      <vt:lpstr>Project Objective</vt:lpstr>
      <vt:lpstr>PowerPoint Presentation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and Solutions</vt:lpstr>
      <vt:lpstr>PowerPoint Presentation</vt:lpstr>
      <vt:lpstr>Demonstration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Satini Sai Keerthan</cp:lastModifiedBy>
  <cp:revision>1</cp:revision>
  <dcterms:modified xsi:type="dcterms:W3CDTF">2025-08-20T05:48:33Z</dcterms:modified>
</cp:coreProperties>
</file>